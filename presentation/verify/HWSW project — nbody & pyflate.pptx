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497FD9-E7ED-435D-BB61-336411573E9E}">
  <a:tblStyle styleId="{86497FD9-E7ED-435D-BB61-336411573E9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2F3850C-69AE-44F1-A2F3-003B56526B7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5.xml"/><Relationship Id="rId22" Type="http://schemas.openxmlformats.org/officeDocument/2006/relationships/font" Target="fonts/Roboto-italic.fntdata"/><Relationship Id="rId10" Type="http://schemas.openxmlformats.org/officeDocument/2006/relationships/slide" Target="slides/slide4.xml"/><Relationship Id="rId21" Type="http://schemas.openxmlformats.org/officeDocument/2006/relationships/font" Target="fonts/Roboto-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erivations.md"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6" name="Google Shape;4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Title slide, shown while the staff settle. Matan opens. No ID numbers anywhere on the deck; names as they appear on the reports.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53cb298650771a08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53cb298650771a08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workloads ship in pyperformance and are pure Python: nbody integrates five bodies for 20,000 steps, pyflate decompresses a 67,562-byte bzip2 file into 399,360 bytes. The course question is where the time goes and what it would take to move that work into hardware. This table is the whole software result, measured on the course VM with 120 pyperf values per configuration, pinned to one guest CPU. Two routes produced it, with different denominators. Original versus optimized ran through pyperformance: 231.20 to 143.13 ms for nbody, 1.62x, and 1,123.49 to 281.16 ms for pyflate, 4.00x. The Rust tiers ran under direct pyperf against the same file's Python back end, so nbody's kernel ratio of 15.25x sits on a 145.30 ms denominator; against the original it is 24.26x. pyflate's Rust decoder reaches 170.01 ms, 6.61x. Every later slide names its denominator.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53cb298650771a08_2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h53cb298650771a08_2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state is the Sun and four gas giants: 35 Python floats in nested lists, a position, a velocity and a mass per body. pairs is a list of ten tuples aliasing those same lists, built once. One timed iteration evaluates the energy, calls advance(0.01, 20000), and evaluates the energy again. Every step visits the same ten pairs, forms dx, dy and dz, computes mag = dt * (dsq ** -1.5) and updates both bodies' velocities in place. Ten pairs times 20,000 steps is 200,000 pair-force evaluations, and between every one of them sits the interpreter. The physics is compact; the machinery around each calculation is what we go looking for.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53cb298650771a08_2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h53cb298650771a08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profilers, two views. py-spy on release CPython puts 97.7% of 310 samples in advance(); everything else is start-up and imports. perf at 999 Hz on the debug build shows what the interpreter does inside it: one tower under _PyEval_EvalFrameDefault at 99.31% inclusive, with binary_op1, the generic arithmetic dispatch, at 20.07%, float object handling at 16.25% of self time and list access and index conversion at 11.26%. There is no second hotspot. The list traffic is the part pure Python can remove: the per-pair unpacking and the read-modify-write of each velocity list. The float boxing it cannot remove, because every operation still allocates a Python float. Debug-build percentages locate the costs; release-build timing establishes the benefit.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53cb298650771a08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53cb298650771a08_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import time we emit an advance() with the pair loop unrolled, coordinates in locals and masses as literals; state is loaded before the step loop and written back afterwards, so energy still observes the original body objects. The arithmetic is untouched: mag = dt * (dsq ** -1.5) in the same order, so final state and energy compare exactly equal after 20,000 steps, not merely within a tolerance. Under pyperformance the run goes from 231.20 ± 7.85 to 143.13 ± 1.56 ms, 1.62x, 38.1% less time; the 88.1 ms reduction is about 70 times the clustered standard error. The optimized profile confirms the mechanism: list access and index conversion fall from 11.26% to 0.06% of self time, float handling does not fall, and advance() still holds 91.4% of 210 samples. That residue is what the native tier removes.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2935f64077afe61a_1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h2935f64077afe61a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leaving Python we tried the obvious alternatives, and at ten pairs they lose. A struct-of-arrays layout runs at 0.88x of the original's speed and NumPy at 0.35–0.46x: array setup and per-call overhead exceed the work. Barnes-Hut is 3.92x slower at N = 5 in the VM force sweep, 0.077 against 0.020 ms; it only crosses over near N = 300, which is a backup slide. What wins is leaving the interpreter. The Rust/PyO3 System runs all 20,000 steps and both energy evaluations in one call, 9.530 ± 0.050 ms, bit-identical in state and energy at 5, 10 and 31 bodies. Watch the denominators: 15.25x is against the same file's Python back end under direct pyperf, 145.30 ms; against the pyperformance original of 231.20 ms it is 24.26x. The two ratios must not be multiplied.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2935f64077afe61a_19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2935f64077afe61a_19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separate pinned warm-loop experiment, 64 iterations per run, medians of three runs, user-mode counters only. Native retires 26.7x fewer instructions and 14.9x fewer cycles, yet its IPC falls from 3.28 to 1.83. That is not a contradiction: runtime is cycles over clock, and IPC counts retired instructions, not useful force updates. Interpreter bookkeeping pipelines beautifully and is still work. Cache misses are 59.6 against 2.5 per iteration, far too few to matter. So nbody's cost was instruction count from the interpreter, not the memory system and not the pipeline, which is the fact the hardware half has to live with: there is no memory stall for an accelerator to hide.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2935f64077afe61a_19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2935f64077afe61a_19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Amdahl first, hardware second. The profile says 95% of the original run is inside advance(), so f = 0.95 and the ceiling for any accelerator is 20x; at the 50 MHz design target the model gives 3.78x, which is why the PRD asked for at least 4x. The boundary follows from the loop shape: 20,000 serial steps over five bodies and ten pairs. If the host called the device once per step, the register traffic would dwarf the arithmetic, so software loads the body state and the pair list, rings one doorbell, and reads the state back after all 20,000 steps. That costs about 150 AXI-Lite transactions per run, under 0.03% of the compute. ADR-0001 therefore chose MMIO only: no DMA, no stream ports, because a few hundred bytes per invocation do not justify a DMA engine and its verification.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2935f64077afe61a_19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2935f64077afe61a_19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Inputs and outputs: a 32-bit AXI4-Lite slave with a 12-bit address inside a 4 KB window, plus one interrupt. Through that window software writes FP64 body state as word pairs, DT, a 32-bit NSTEPS, and the pair list; it reads back state, counters and status. The register map is 15 rows. Inside, the datapath is our own FP64 units: three 3-stage adders, three 3-stage multipliers, one radix-4 SRT square root of about 30 cycles and one Newton reciprocal of about 22 cycles. Deliberately no FMA: the Python trajectory rounds after every multiply and every add, and fusing them would break bit-exactness against the emulation model. A step is a fixed 290-operation graph; the cycle model list-scheduled it onto candidate unit mixes and 3 add plus 3 mul was the smallest mix under the 128-cycle budget. Clock target 50 MHz.</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2935f64077afe61a_19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h2935f64077afe61a_19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uArch model predicted 123 cycles per step, and the bring-up smoke test measured 126, so every gate was green until sign-off. The sign-off test runs the real workload, all ten pairs for 20,000 steps, and there K1 was 162: the smoke test used only two pairs, a shape in which the static schedule hides the accumulate phase, and the RTL had implemented the ordered velocity accumulate as single-issue. Widening it to three ops per cycle, with a per-lane integrate and a 3-port body register file, brought K1 to 124, inside the model's 123 to 127 window. Both design points are fully synthesized, so the trade-off is measured: 38.7% more area for 23.5% fewer cycles. Renegotiating K1 to 162 was offered and declined at the sign-off checkpoint.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2935f64077afe61a_19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2935f64077afe61a_19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area figures come from two synthesis recipes: plain Yosys on the netlist before the final rewrite, and OpenLane's own synthesis of the final RTL; they are not comparable with each other. The clock story is the interesting one. The first post-CTS run gave 11.15 MHz, and the critical path was the 3-wide accumulate issue picker, a 60-deep combinational scan. Rewriting the two prefix operations as balanced trees removed that path without adding a cycle: 19.46 MHz, 1.75x, K1 still 124, every output bit-exact. That number is an extrapolation: the run was constrained at 150 ns and back-computes 51.38 ns from 98.6 ns of slack, and unlike the other two modules grape has no confirmation run near the result. The 50 MHz target is missed 2.6x; the new limiter is the integrate-multiplier operand path.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2935f64077afe61a_19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2935f64077afe61a_19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honest result. Compute is 2.48 million measured RTL cycles divided by the 19.46 MHz post-CTS clock, 127.4 ms. We add an assumed 5% Python residual for the harness and the two energy evaluations, 11.6 ms; nobody has measured that residual, and no software has ever called this hardware, so the interface time is unmeasured and can only make the row slower. The projection lands at about 139 ms: 1.66x over the original, a tie with optimized Python at 1.03x, and about 15x slower than the 9.53 ms Rust tier. Per step that is 124 cycles or 6.4 µs against 0.48 µs natively. The cause is the clock, not the interface; the residual alone already exceeds the whole Rust run.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2935f64077afe61a_19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h2935f64077afe61a_19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Everything on this slide is a projection from the schedule model and the report's numbers; </a:t>
            </a:r>
            <a:r>
              <a:rPr lang="en" u="sng">
                <a:solidFill>
                  <a:schemeClr val="hlink"/>
                </a:solidFill>
                <a:hlinkClick r:id="rId2"/>
              </a:rPr>
              <a:t>derivations.md</a:t>
            </a:r>
            <a:r>
              <a:rPr lang="en"/>
              <a:t> holds the arithmetic. Clock: the datapath alone matches Rust at about 260 MHz, 13.4 times what post-CTS timing supports; at the 50 MHz target the system would still be 6.42x slower. Width: a fourth multiplier saves 6 cycles per step in the model, 123 to 117, because at N = 5 one pair's 80-cycle chain bounds the step. Host: swapping Python for Rust around the same device trims the residual from 11.6 ms to about 0.48 ms, an 8% change. Only more bodies change the verdict: at N = 100 the model needs 24 adders and 24 multipliers to run 1.6x faster than native, assuming the clock survives the wider issue logic, which our own 1-wide versus 3-wide data says it does not.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5760" y="228600"/>
            <a:ext cx="8412600" cy="1097400"/>
          </a:xfrm>
          <a:prstGeom prst="rect">
            <a:avLst/>
          </a:prstGeom>
        </p:spPr>
        <p:txBody>
          <a:bodyPr anchorCtr="0" anchor="ctr" bIns="91425" lIns="91425" spcFirstLastPara="1" rIns="91425" wrap="square" tIns="91425">
            <a:noAutofit/>
          </a:bodyPr>
          <a:lstStyle>
            <a:lvl1pPr lvl="0">
              <a:spcBef>
                <a:spcPts val="0"/>
              </a:spcBef>
              <a:spcAft>
                <a:spcPts val="0"/>
              </a:spcAft>
              <a:buClr>
                <a:srgbClr val="222222"/>
              </a:buClr>
              <a:buSzPts val="2200"/>
              <a:buNone/>
              <a:defRPr sz="2200">
                <a:solidFill>
                  <a:srgbClr val="222222"/>
                </a:solidFill>
              </a:defRPr>
            </a:lvl1pPr>
            <a:lvl2pPr lvl="1">
              <a:spcBef>
                <a:spcPts val="0"/>
              </a:spcBef>
              <a:spcAft>
                <a:spcPts val="0"/>
              </a:spcAft>
              <a:buClr>
                <a:srgbClr val="222222"/>
              </a:buClr>
              <a:buSzPts val="2600"/>
              <a:buNone/>
              <a:defRPr sz="2600">
                <a:solidFill>
                  <a:srgbClr val="222222"/>
                </a:solidFill>
              </a:defRPr>
            </a:lvl2pPr>
            <a:lvl3pPr lvl="2">
              <a:spcBef>
                <a:spcPts val="0"/>
              </a:spcBef>
              <a:spcAft>
                <a:spcPts val="0"/>
              </a:spcAft>
              <a:buClr>
                <a:srgbClr val="222222"/>
              </a:buClr>
              <a:buSzPts val="2600"/>
              <a:buNone/>
              <a:defRPr sz="2600">
                <a:solidFill>
                  <a:srgbClr val="222222"/>
                </a:solidFill>
              </a:defRPr>
            </a:lvl3pPr>
            <a:lvl4pPr lvl="3">
              <a:spcBef>
                <a:spcPts val="0"/>
              </a:spcBef>
              <a:spcAft>
                <a:spcPts val="0"/>
              </a:spcAft>
              <a:buClr>
                <a:srgbClr val="222222"/>
              </a:buClr>
              <a:buSzPts val="2600"/>
              <a:buNone/>
              <a:defRPr sz="2600">
                <a:solidFill>
                  <a:srgbClr val="222222"/>
                </a:solidFill>
              </a:defRPr>
            </a:lvl4pPr>
            <a:lvl5pPr lvl="4">
              <a:spcBef>
                <a:spcPts val="0"/>
              </a:spcBef>
              <a:spcAft>
                <a:spcPts val="0"/>
              </a:spcAft>
              <a:buClr>
                <a:srgbClr val="222222"/>
              </a:buClr>
              <a:buSzPts val="2600"/>
              <a:buNone/>
              <a:defRPr sz="2600">
                <a:solidFill>
                  <a:srgbClr val="222222"/>
                </a:solidFill>
              </a:defRPr>
            </a:lvl5pPr>
            <a:lvl6pPr lvl="5">
              <a:spcBef>
                <a:spcPts val="0"/>
              </a:spcBef>
              <a:spcAft>
                <a:spcPts val="0"/>
              </a:spcAft>
              <a:buClr>
                <a:srgbClr val="222222"/>
              </a:buClr>
              <a:buSzPts val="2600"/>
              <a:buNone/>
              <a:defRPr sz="2600">
                <a:solidFill>
                  <a:srgbClr val="222222"/>
                </a:solidFill>
              </a:defRPr>
            </a:lvl6pPr>
            <a:lvl7pPr lvl="6">
              <a:spcBef>
                <a:spcPts val="0"/>
              </a:spcBef>
              <a:spcAft>
                <a:spcPts val="0"/>
              </a:spcAft>
              <a:buClr>
                <a:srgbClr val="222222"/>
              </a:buClr>
              <a:buSzPts val="2600"/>
              <a:buNone/>
              <a:defRPr sz="2600">
                <a:solidFill>
                  <a:srgbClr val="222222"/>
                </a:solidFill>
              </a:defRPr>
            </a:lvl7pPr>
            <a:lvl8pPr lvl="7">
              <a:spcBef>
                <a:spcPts val="0"/>
              </a:spcBef>
              <a:spcAft>
                <a:spcPts val="0"/>
              </a:spcAft>
              <a:buClr>
                <a:srgbClr val="222222"/>
              </a:buClr>
              <a:buSzPts val="2600"/>
              <a:buNone/>
              <a:defRPr sz="2600">
                <a:solidFill>
                  <a:srgbClr val="222222"/>
                </a:solidFill>
              </a:defRPr>
            </a:lvl8pPr>
            <a:lvl9pPr lvl="8">
              <a:spcBef>
                <a:spcPts val="0"/>
              </a:spcBef>
              <a:spcAft>
                <a:spcPts val="0"/>
              </a:spcAft>
              <a:buClr>
                <a:srgbClr val="222222"/>
              </a:buClr>
              <a:buSzPts val="2600"/>
              <a:buNone/>
              <a:defRPr sz="2600">
                <a:solidFill>
                  <a:srgbClr val="222222"/>
                </a:solidFill>
              </a:defRPr>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nvSpPr>
        <p:spPr>
          <a:xfrm>
            <a:off x="365760" y="4599432"/>
            <a:ext cx="84126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888888"/>
                </a:solidFill>
                <a:latin typeface="Roboto"/>
                <a:ea typeface="Roboto"/>
                <a:cs typeface="Roboto"/>
                <a:sym typeface="Roboto"/>
              </a:rPr>
              <a:t>Analyze   ·   Profile   ·   Optimize   ·   Accelerate   ·   Trade-offs</a:t>
            </a:r>
            <a:endParaRPr sz="1000">
              <a:solidFill>
                <a:srgbClr val="888888"/>
              </a:solidFill>
              <a:latin typeface="Roboto"/>
              <a:ea typeface="Roboto"/>
              <a:cs typeface="Roboto"/>
              <a:sym typeface="Robo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Trade-offs">
  <p:cSld name="TITLE_AND_BODY_5">
    <p:spTree>
      <p:nvGrpSpPr>
        <p:cNvPr id="17" name="Shape 17"/>
        <p:cNvGrpSpPr/>
        <p:nvPr/>
      </p:nvGrpSpPr>
      <p:grpSpPr>
        <a:xfrm>
          <a:off x="0" y="0"/>
          <a:ext cx="0" cy="0"/>
          <a:chOff x="0" y="0"/>
          <a:chExt cx="0" cy="0"/>
        </a:xfrm>
      </p:grpSpPr>
      <p:sp>
        <p:nvSpPr>
          <p:cNvPr id="18" name="Google Shape;18;p4"/>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lvl1pPr lvl="0">
              <a:spcBef>
                <a:spcPts val="0"/>
              </a:spcBef>
              <a:spcAft>
                <a:spcPts val="0"/>
              </a:spcAft>
              <a:buClr>
                <a:srgbClr val="222222"/>
              </a:buClr>
              <a:buSzPts val="2200"/>
              <a:buNone/>
              <a:defRPr sz="2200">
                <a:solidFill>
                  <a:srgbClr val="222222"/>
                </a:solidFill>
              </a:defRPr>
            </a:lvl1pPr>
            <a:lvl2pPr lvl="1">
              <a:spcBef>
                <a:spcPts val="0"/>
              </a:spcBef>
              <a:spcAft>
                <a:spcPts val="0"/>
              </a:spcAft>
              <a:buClr>
                <a:srgbClr val="222222"/>
              </a:buClr>
              <a:buSzPts val="2600"/>
              <a:buNone/>
              <a:defRPr sz="2600">
                <a:solidFill>
                  <a:srgbClr val="222222"/>
                </a:solidFill>
              </a:defRPr>
            </a:lvl2pPr>
            <a:lvl3pPr lvl="2">
              <a:spcBef>
                <a:spcPts val="0"/>
              </a:spcBef>
              <a:spcAft>
                <a:spcPts val="0"/>
              </a:spcAft>
              <a:buClr>
                <a:srgbClr val="222222"/>
              </a:buClr>
              <a:buSzPts val="2600"/>
              <a:buNone/>
              <a:defRPr sz="2600">
                <a:solidFill>
                  <a:srgbClr val="222222"/>
                </a:solidFill>
              </a:defRPr>
            </a:lvl3pPr>
            <a:lvl4pPr lvl="3">
              <a:spcBef>
                <a:spcPts val="0"/>
              </a:spcBef>
              <a:spcAft>
                <a:spcPts val="0"/>
              </a:spcAft>
              <a:buClr>
                <a:srgbClr val="222222"/>
              </a:buClr>
              <a:buSzPts val="2600"/>
              <a:buNone/>
              <a:defRPr sz="2600">
                <a:solidFill>
                  <a:srgbClr val="222222"/>
                </a:solidFill>
              </a:defRPr>
            </a:lvl4pPr>
            <a:lvl5pPr lvl="4">
              <a:spcBef>
                <a:spcPts val="0"/>
              </a:spcBef>
              <a:spcAft>
                <a:spcPts val="0"/>
              </a:spcAft>
              <a:buClr>
                <a:srgbClr val="222222"/>
              </a:buClr>
              <a:buSzPts val="2600"/>
              <a:buNone/>
              <a:defRPr sz="2600">
                <a:solidFill>
                  <a:srgbClr val="222222"/>
                </a:solidFill>
              </a:defRPr>
            </a:lvl5pPr>
            <a:lvl6pPr lvl="5">
              <a:spcBef>
                <a:spcPts val="0"/>
              </a:spcBef>
              <a:spcAft>
                <a:spcPts val="0"/>
              </a:spcAft>
              <a:buClr>
                <a:srgbClr val="222222"/>
              </a:buClr>
              <a:buSzPts val="2600"/>
              <a:buNone/>
              <a:defRPr sz="2600">
                <a:solidFill>
                  <a:srgbClr val="222222"/>
                </a:solidFill>
              </a:defRPr>
            </a:lvl6pPr>
            <a:lvl7pPr lvl="6">
              <a:spcBef>
                <a:spcPts val="0"/>
              </a:spcBef>
              <a:spcAft>
                <a:spcPts val="0"/>
              </a:spcAft>
              <a:buClr>
                <a:srgbClr val="222222"/>
              </a:buClr>
              <a:buSzPts val="2600"/>
              <a:buNone/>
              <a:defRPr sz="2600">
                <a:solidFill>
                  <a:srgbClr val="222222"/>
                </a:solidFill>
              </a:defRPr>
            </a:lvl7pPr>
            <a:lvl8pPr lvl="7">
              <a:spcBef>
                <a:spcPts val="0"/>
              </a:spcBef>
              <a:spcAft>
                <a:spcPts val="0"/>
              </a:spcAft>
              <a:buClr>
                <a:srgbClr val="222222"/>
              </a:buClr>
              <a:buSzPts val="2600"/>
              <a:buNone/>
              <a:defRPr sz="2600">
                <a:solidFill>
                  <a:srgbClr val="222222"/>
                </a:solidFill>
              </a:defRPr>
            </a:lvl8pPr>
            <a:lvl9pPr lvl="8">
              <a:spcBef>
                <a:spcPts val="0"/>
              </a:spcBef>
              <a:spcAft>
                <a:spcPts val="0"/>
              </a:spcAft>
              <a:buClr>
                <a:srgbClr val="222222"/>
              </a:buClr>
              <a:buSzPts val="2600"/>
              <a:buNone/>
              <a:defRPr sz="2600">
                <a:solidFill>
                  <a:srgbClr val="222222"/>
                </a:solidFill>
              </a:defRPr>
            </a:lvl9pPr>
          </a:lstStyle>
          <a:p/>
        </p:txBody>
      </p:sp>
      <p:sp>
        <p:nvSpPr>
          <p:cNvPr id="19" name="Google Shape;19;p4"/>
          <p:cNvSpPr txBox="1"/>
          <p:nvPr>
            <p:ph idx="1" type="body"/>
          </p:nvPr>
        </p:nvSpPr>
        <p:spPr>
          <a:xfrm>
            <a:off x="365760" y="1463040"/>
            <a:ext cx="8412600" cy="310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 name="Google Shape;21;p4"/>
          <p:cNvSpPr txBox="1"/>
          <p:nvPr/>
        </p:nvSpPr>
        <p:spPr>
          <a:xfrm>
            <a:off x="365760" y="4599432"/>
            <a:ext cx="84126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888888"/>
                </a:solidFill>
                <a:latin typeface="Roboto"/>
                <a:ea typeface="Roboto"/>
                <a:cs typeface="Roboto"/>
                <a:sym typeface="Roboto"/>
              </a:rPr>
              <a:t>Analyze   ·   Profile   ·   Optimize   ·   Accelerate   ·   </a:t>
            </a:r>
            <a:r>
              <a:rPr b="1" lang="en" sz="1000">
                <a:solidFill>
                  <a:srgbClr val="1F4E79"/>
                </a:solidFill>
                <a:latin typeface="Roboto"/>
                <a:ea typeface="Roboto"/>
                <a:cs typeface="Roboto"/>
                <a:sym typeface="Roboto"/>
              </a:rPr>
              <a:t>Trade-offs</a:t>
            </a:r>
            <a:endParaRPr b="1" sz="1000">
              <a:solidFill>
                <a:srgbClr val="1F4E79"/>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ccelerate">
  <p:cSld name="TITLE_AND_BODY_4">
    <p:spTree>
      <p:nvGrpSpPr>
        <p:cNvPr id="22" name="Shape 22"/>
        <p:cNvGrpSpPr/>
        <p:nvPr/>
      </p:nvGrpSpPr>
      <p:grpSpPr>
        <a:xfrm>
          <a:off x="0" y="0"/>
          <a:ext cx="0" cy="0"/>
          <a:chOff x="0" y="0"/>
          <a:chExt cx="0" cy="0"/>
        </a:xfrm>
      </p:grpSpPr>
      <p:sp>
        <p:nvSpPr>
          <p:cNvPr id="23" name="Google Shape;23;p5"/>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lvl1pPr lvl="0">
              <a:spcBef>
                <a:spcPts val="0"/>
              </a:spcBef>
              <a:spcAft>
                <a:spcPts val="0"/>
              </a:spcAft>
              <a:buClr>
                <a:srgbClr val="222222"/>
              </a:buClr>
              <a:buSzPts val="2200"/>
              <a:buNone/>
              <a:defRPr sz="2200">
                <a:solidFill>
                  <a:srgbClr val="222222"/>
                </a:solidFill>
              </a:defRPr>
            </a:lvl1pPr>
            <a:lvl2pPr lvl="1">
              <a:spcBef>
                <a:spcPts val="0"/>
              </a:spcBef>
              <a:spcAft>
                <a:spcPts val="0"/>
              </a:spcAft>
              <a:buClr>
                <a:srgbClr val="222222"/>
              </a:buClr>
              <a:buSzPts val="2600"/>
              <a:buNone/>
              <a:defRPr sz="2600">
                <a:solidFill>
                  <a:srgbClr val="222222"/>
                </a:solidFill>
              </a:defRPr>
            </a:lvl2pPr>
            <a:lvl3pPr lvl="2">
              <a:spcBef>
                <a:spcPts val="0"/>
              </a:spcBef>
              <a:spcAft>
                <a:spcPts val="0"/>
              </a:spcAft>
              <a:buClr>
                <a:srgbClr val="222222"/>
              </a:buClr>
              <a:buSzPts val="2600"/>
              <a:buNone/>
              <a:defRPr sz="2600">
                <a:solidFill>
                  <a:srgbClr val="222222"/>
                </a:solidFill>
              </a:defRPr>
            </a:lvl3pPr>
            <a:lvl4pPr lvl="3">
              <a:spcBef>
                <a:spcPts val="0"/>
              </a:spcBef>
              <a:spcAft>
                <a:spcPts val="0"/>
              </a:spcAft>
              <a:buClr>
                <a:srgbClr val="222222"/>
              </a:buClr>
              <a:buSzPts val="2600"/>
              <a:buNone/>
              <a:defRPr sz="2600">
                <a:solidFill>
                  <a:srgbClr val="222222"/>
                </a:solidFill>
              </a:defRPr>
            </a:lvl4pPr>
            <a:lvl5pPr lvl="4">
              <a:spcBef>
                <a:spcPts val="0"/>
              </a:spcBef>
              <a:spcAft>
                <a:spcPts val="0"/>
              </a:spcAft>
              <a:buClr>
                <a:srgbClr val="222222"/>
              </a:buClr>
              <a:buSzPts val="2600"/>
              <a:buNone/>
              <a:defRPr sz="2600">
                <a:solidFill>
                  <a:srgbClr val="222222"/>
                </a:solidFill>
              </a:defRPr>
            </a:lvl5pPr>
            <a:lvl6pPr lvl="5">
              <a:spcBef>
                <a:spcPts val="0"/>
              </a:spcBef>
              <a:spcAft>
                <a:spcPts val="0"/>
              </a:spcAft>
              <a:buClr>
                <a:srgbClr val="222222"/>
              </a:buClr>
              <a:buSzPts val="2600"/>
              <a:buNone/>
              <a:defRPr sz="2600">
                <a:solidFill>
                  <a:srgbClr val="222222"/>
                </a:solidFill>
              </a:defRPr>
            </a:lvl6pPr>
            <a:lvl7pPr lvl="6">
              <a:spcBef>
                <a:spcPts val="0"/>
              </a:spcBef>
              <a:spcAft>
                <a:spcPts val="0"/>
              </a:spcAft>
              <a:buClr>
                <a:srgbClr val="222222"/>
              </a:buClr>
              <a:buSzPts val="2600"/>
              <a:buNone/>
              <a:defRPr sz="2600">
                <a:solidFill>
                  <a:srgbClr val="222222"/>
                </a:solidFill>
              </a:defRPr>
            </a:lvl7pPr>
            <a:lvl8pPr lvl="7">
              <a:spcBef>
                <a:spcPts val="0"/>
              </a:spcBef>
              <a:spcAft>
                <a:spcPts val="0"/>
              </a:spcAft>
              <a:buClr>
                <a:srgbClr val="222222"/>
              </a:buClr>
              <a:buSzPts val="2600"/>
              <a:buNone/>
              <a:defRPr sz="2600">
                <a:solidFill>
                  <a:srgbClr val="222222"/>
                </a:solidFill>
              </a:defRPr>
            </a:lvl8pPr>
            <a:lvl9pPr lvl="8">
              <a:spcBef>
                <a:spcPts val="0"/>
              </a:spcBef>
              <a:spcAft>
                <a:spcPts val="0"/>
              </a:spcAft>
              <a:buClr>
                <a:srgbClr val="222222"/>
              </a:buClr>
              <a:buSzPts val="2600"/>
              <a:buNone/>
              <a:defRPr sz="2600">
                <a:solidFill>
                  <a:srgbClr val="222222"/>
                </a:solidFill>
              </a:defRPr>
            </a:lvl9pPr>
          </a:lstStyle>
          <a:p/>
        </p:txBody>
      </p:sp>
      <p:sp>
        <p:nvSpPr>
          <p:cNvPr id="24" name="Google Shape;24;p5"/>
          <p:cNvSpPr txBox="1"/>
          <p:nvPr>
            <p:ph idx="1" type="body"/>
          </p:nvPr>
        </p:nvSpPr>
        <p:spPr>
          <a:xfrm>
            <a:off x="365760" y="1463040"/>
            <a:ext cx="8412600" cy="310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5"/>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nvSpPr>
        <p:spPr>
          <a:xfrm>
            <a:off x="365760" y="4599432"/>
            <a:ext cx="84126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888888"/>
                </a:solidFill>
                <a:latin typeface="Roboto"/>
                <a:ea typeface="Roboto"/>
                <a:cs typeface="Roboto"/>
                <a:sym typeface="Roboto"/>
              </a:rPr>
              <a:t>Analyze   ·   Profile   ·   Optimize   ·   </a:t>
            </a:r>
            <a:r>
              <a:rPr b="1" lang="en" sz="1000">
                <a:solidFill>
                  <a:srgbClr val="1F4E79"/>
                </a:solidFill>
                <a:latin typeface="Roboto"/>
                <a:ea typeface="Roboto"/>
                <a:cs typeface="Roboto"/>
                <a:sym typeface="Roboto"/>
              </a:rPr>
              <a:t>Accelerate</a:t>
            </a:r>
            <a:r>
              <a:rPr lang="en" sz="1000">
                <a:solidFill>
                  <a:srgbClr val="888888"/>
                </a:solidFill>
                <a:latin typeface="Roboto"/>
                <a:ea typeface="Roboto"/>
                <a:cs typeface="Roboto"/>
                <a:sym typeface="Roboto"/>
              </a:rPr>
              <a:t>   ·   Trade-offs</a:t>
            </a:r>
            <a:endParaRPr sz="1000">
              <a:solidFill>
                <a:srgbClr val="888888"/>
              </a:solidFill>
              <a:latin typeface="Roboto"/>
              <a:ea typeface="Roboto"/>
              <a:cs typeface="Roboto"/>
              <a:sym typeface="Robo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mize">
  <p:cSld name="TITLE_AND_BODY_3">
    <p:spTree>
      <p:nvGrpSpPr>
        <p:cNvPr id="27" name="Shape 27"/>
        <p:cNvGrpSpPr/>
        <p:nvPr/>
      </p:nvGrpSpPr>
      <p:grpSpPr>
        <a:xfrm>
          <a:off x="0" y="0"/>
          <a:ext cx="0" cy="0"/>
          <a:chOff x="0" y="0"/>
          <a:chExt cx="0" cy="0"/>
        </a:xfrm>
      </p:grpSpPr>
      <p:sp>
        <p:nvSpPr>
          <p:cNvPr id="28" name="Google Shape;28;p6"/>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lvl1pPr lvl="0">
              <a:spcBef>
                <a:spcPts val="0"/>
              </a:spcBef>
              <a:spcAft>
                <a:spcPts val="0"/>
              </a:spcAft>
              <a:buClr>
                <a:srgbClr val="222222"/>
              </a:buClr>
              <a:buSzPts val="2200"/>
              <a:buNone/>
              <a:defRPr sz="2200">
                <a:solidFill>
                  <a:srgbClr val="222222"/>
                </a:solidFill>
              </a:defRPr>
            </a:lvl1pPr>
            <a:lvl2pPr lvl="1">
              <a:spcBef>
                <a:spcPts val="0"/>
              </a:spcBef>
              <a:spcAft>
                <a:spcPts val="0"/>
              </a:spcAft>
              <a:buClr>
                <a:srgbClr val="222222"/>
              </a:buClr>
              <a:buSzPts val="2600"/>
              <a:buNone/>
              <a:defRPr sz="2600">
                <a:solidFill>
                  <a:srgbClr val="222222"/>
                </a:solidFill>
              </a:defRPr>
            </a:lvl2pPr>
            <a:lvl3pPr lvl="2">
              <a:spcBef>
                <a:spcPts val="0"/>
              </a:spcBef>
              <a:spcAft>
                <a:spcPts val="0"/>
              </a:spcAft>
              <a:buClr>
                <a:srgbClr val="222222"/>
              </a:buClr>
              <a:buSzPts val="2600"/>
              <a:buNone/>
              <a:defRPr sz="2600">
                <a:solidFill>
                  <a:srgbClr val="222222"/>
                </a:solidFill>
              </a:defRPr>
            </a:lvl3pPr>
            <a:lvl4pPr lvl="3">
              <a:spcBef>
                <a:spcPts val="0"/>
              </a:spcBef>
              <a:spcAft>
                <a:spcPts val="0"/>
              </a:spcAft>
              <a:buClr>
                <a:srgbClr val="222222"/>
              </a:buClr>
              <a:buSzPts val="2600"/>
              <a:buNone/>
              <a:defRPr sz="2600">
                <a:solidFill>
                  <a:srgbClr val="222222"/>
                </a:solidFill>
              </a:defRPr>
            </a:lvl4pPr>
            <a:lvl5pPr lvl="4">
              <a:spcBef>
                <a:spcPts val="0"/>
              </a:spcBef>
              <a:spcAft>
                <a:spcPts val="0"/>
              </a:spcAft>
              <a:buClr>
                <a:srgbClr val="222222"/>
              </a:buClr>
              <a:buSzPts val="2600"/>
              <a:buNone/>
              <a:defRPr sz="2600">
                <a:solidFill>
                  <a:srgbClr val="222222"/>
                </a:solidFill>
              </a:defRPr>
            </a:lvl5pPr>
            <a:lvl6pPr lvl="5">
              <a:spcBef>
                <a:spcPts val="0"/>
              </a:spcBef>
              <a:spcAft>
                <a:spcPts val="0"/>
              </a:spcAft>
              <a:buClr>
                <a:srgbClr val="222222"/>
              </a:buClr>
              <a:buSzPts val="2600"/>
              <a:buNone/>
              <a:defRPr sz="2600">
                <a:solidFill>
                  <a:srgbClr val="222222"/>
                </a:solidFill>
              </a:defRPr>
            </a:lvl6pPr>
            <a:lvl7pPr lvl="6">
              <a:spcBef>
                <a:spcPts val="0"/>
              </a:spcBef>
              <a:spcAft>
                <a:spcPts val="0"/>
              </a:spcAft>
              <a:buClr>
                <a:srgbClr val="222222"/>
              </a:buClr>
              <a:buSzPts val="2600"/>
              <a:buNone/>
              <a:defRPr sz="2600">
                <a:solidFill>
                  <a:srgbClr val="222222"/>
                </a:solidFill>
              </a:defRPr>
            </a:lvl7pPr>
            <a:lvl8pPr lvl="7">
              <a:spcBef>
                <a:spcPts val="0"/>
              </a:spcBef>
              <a:spcAft>
                <a:spcPts val="0"/>
              </a:spcAft>
              <a:buClr>
                <a:srgbClr val="222222"/>
              </a:buClr>
              <a:buSzPts val="2600"/>
              <a:buNone/>
              <a:defRPr sz="2600">
                <a:solidFill>
                  <a:srgbClr val="222222"/>
                </a:solidFill>
              </a:defRPr>
            </a:lvl8pPr>
            <a:lvl9pPr lvl="8">
              <a:spcBef>
                <a:spcPts val="0"/>
              </a:spcBef>
              <a:spcAft>
                <a:spcPts val="0"/>
              </a:spcAft>
              <a:buClr>
                <a:srgbClr val="222222"/>
              </a:buClr>
              <a:buSzPts val="2600"/>
              <a:buNone/>
              <a:defRPr sz="2600">
                <a:solidFill>
                  <a:srgbClr val="222222"/>
                </a:solidFill>
              </a:defRPr>
            </a:lvl9pPr>
          </a:lstStyle>
          <a:p/>
        </p:txBody>
      </p:sp>
      <p:sp>
        <p:nvSpPr>
          <p:cNvPr id="29" name="Google Shape;29;p6"/>
          <p:cNvSpPr txBox="1"/>
          <p:nvPr>
            <p:ph idx="1" type="body"/>
          </p:nvPr>
        </p:nvSpPr>
        <p:spPr>
          <a:xfrm>
            <a:off x="365760" y="1463040"/>
            <a:ext cx="8412600" cy="310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0" name="Google Shape;30;p6"/>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6"/>
          <p:cNvSpPr txBox="1"/>
          <p:nvPr/>
        </p:nvSpPr>
        <p:spPr>
          <a:xfrm>
            <a:off x="365760" y="4599432"/>
            <a:ext cx="84126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888888"/>
                </a:solidFill>
                <a:latin typeface="Roboto"/>
                <a:ea typeface="Roboto"/>
                <a:cs typeface="Roboto"/>
                <a:sym typeface="Roboto"/>
              </a:rPr>
              <a:t>Analyze   ·   Profile   ·   </a:t>
            </a:r>
            <a:r>
              <a:rPr b="1" lang="en" sz="1000">
                <a:solidFill>
                  <a:srgbClr val="1F4E79"/>
                </a:solidFill>
                <a:latin typeface="Roboto"/>
                <a:ea typeface="Roboto"/>
                <a:cs typeface="Roboto"/>
                <a:sym typeface="Roboto"/>
              </a:rPr>
              <a:t>Optimize</a:t>
            </a:r>
            <a:r>
              <a:rPr lang="en" sz="1000">
                <a:solidFill>
                  <a:srgbClr val="888888"/>
                </a:solidFill>
                <a:latin typeface="Roboto"/>
                <a:ea typeface="Roboto"/>
                <a:cs typeface="Roboto"/>
                <a:sym typeface="Roboto"/>
              </a:rPr>
              <a:t>   ·   Accelerate   ·   Trade-offs</a:t>
            </a:r>
            <a:endParaRPr sz="1000">
              <a:solidFill>
                <a:srgbClr val="888888"/>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Profile">
  <p:cSld name="TITLE_AND_BODY_2">
    <p:spTree>
      <p:nvGrpSpPr>
        <p:cNvPr id="32" name="Shape 32"/>
        <p:cNvGrpSpPr/>
        <p:nvPr/>
      </p:nvGrpSpPr>
      <p:grpSpPr>
        <a:xfrm>
          <a:off x="0" y="0"/>
          <a:ext cx="0" cy="0"/>
          <a:chOff x="0" y="0"/>
          <a:chExt cx="0" cy="0"/>
        </a:xfrm>
      </p:grpSpPr>
      <p:sp>
        <p:nvSpPr>
          <p:cNvPr id="33" name="Google Shape;33;p7"/>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lvl1pPr lvl="0">
              <a:spcBef>
                <a:spcPts val="0"/>
              </a:spcBef>
              <a:spcAft>
                <a:spcPts val="0"/>
              </a:spcAft>
              <a:buClr>
                <a:srgbClr val="222222"/>
              </a:buClr>
              <a:buSzPts val="2200"/>
              <a:buNone/>
              <a:defRPr sz="2200">
                <a:solidFill>
                  <a:srgbClr val="222222"/>
                </a:solidFill>
              </a:defRPr>
            </a:lvl1pPr>
            <a:lvl2pPr lvl="1">
              <a:spcBef>
                <a:spcPts val="0"/>
              </a:spcBef>
              <a:spcAft>
                <a:spcPts val="0"/>
              </a:spcAft>
              <a:buClr>
                <a:srgbClr val="222222"/>
              </a:buClr>
              <a:buSzPts val="2600"/>
              <a:buNone/>
              <a:defRPr sz="2600">
                <a:solidFill>
                  <a:srgbClr val="222222"/>
                </a:solidFill>
              </a:defRPr>
            </a:lvl2pPr>
            <a:lvl3pPr lvl="2">
              <a:spcBef>
                <a:spcPts val="0"/>
              </a:spcBef>
              <a:spcAft>
                <a:spcPts val="0"/>
              </a:spcAft>
              <a:buClr>
                <a:srgbClr val="222222"/>
              </a:buClr>
              <a:buSzPts val="2600"/>
              <a:buNone/>
              <a:defRPr sz="2600">
                <a:solidFill>
                  <a:srgbClr val="222222"/>
                </a:solidFill>
              </a:defRPr>
            </a:lvl3pPr>
            <a:lvl4pPr lvl="3">
              <a:spcBef>
                <a:spcPts val="0"/>
              </a:spcBef>
              <a:spcAft>
                <a:spcPts val="0"/>
              </a:spcAft>
              <a:buClr>
                <a:srgbClr val="222222"/>
              </a:buClr>
              <a:buSzPts val="2600"/>
              <a:buNone/>
              <a:defRPr sz="2600">
                <a:solidFill>
                  <a:srgbClr val="222222"/>
                </a:solidFill>
              </a:defRPr>
            </a:lvl4pPr>
            <a:lvl5pPr lvl="4">
              <a:spcBef>
                <a:spcPts val="0"/>
              </a:spcBef>
              <a:spcAft>
                <a:spcPts val="0"/>
              </a:spcAft>
              <a:buClr>
                <a:srgbClr val="222222"/>
              </a:buClr>
              <a:buSzPts val="2600"/>
              <a:buNone/>
              <a:defRPr sz="2600">
                <a:solidFill>
                  <a:srgbClr val="222222"/>
                </a:solidFill>
              </a:defRPr>
            </a:lvl5pPr>
            <a:lvl6pPr lvl="5">
              <a:spcBef>
                <a:spcPts val="0"/>
              </a:spcBef>
              <a:spcAft>
                <a:spcPts val="0"/>
              </a:spcAft>
              <a:buClr>
                <a:srgbClr val="222222"/>
              </a:buClr>
              <a:buSzPts val="2600"/>
              <a:buNone/>
              <a:defRPr sz="2600">
                <a:solidFill>
                  <a:srgbClr val="222222"/>
                </a:solidFill>
              </a:defRPr>
            </a:lvl6pPr>
            <a:lvl7pPr lvl="6">
              <a:spcBef>
                <a:spcPts val="0"/>
              </a:spcBef>
              <a:spcAft>
                <a:spcPts val="0"/>
              </a:spcAft>
              <a:buClr>
                <a:srgbClr val="222222"/>
              </a:buClr>
              <a:buSzPts val="2600"/>
              <a:buNone/>
              <a:defRPr sz="2600">
                <a:solidFill>
                  <a:srgbClr val="222222"/>
                </a:solidFill>
              </a:defRPr>
            </a:lvl7pPr>
            <a:lvl8pPr lvl="7">
              <a:spcBef>
                <a:spcPts val="0"/>
              </a:spcBef>
              <a:spcAft>
                <a:spcPts val="0"/>
              </a:spcAft>
              <a:buClr>
                <a:srgbClr val="222222"/>
              </a:buClr>
              <a:buSzPts val="2600"/>
              <a:buNone/>
              <a:defRPr sz="2600">
                <a:solidFill>
                  <a:srgbClr val="222222"/>
                </a:solidFill>
              </a:defRPr>
            </a:lvl8pPr>
            <a:lvl9pPr lvl="8">
              <a:spcBef>
                <a:spcPts val="0"/>
              </a:spcBef>
              <a:spcAft>
                <a:spcPts val="0"/>
              </a:spcAft>
              <a:buClr>
                <a:srgbClr val="222222"/>
              </a:buClr>
              <a:buSzPts val="2600"/>
              <a:buNone/>
              <a:defRPr sz="2600">
                <a:solidFill>
                  <a:srgbClr val="222222"/>
                </a:solidFill>
              </a:defRPr>
            </a:lvl9pPr>
          </a:lstStyle>
          <a:p/>
        </p:txBody>
      </p:sp>
      <p:sp>
        <p:nvSpPr>
          <p:cNvPr id="34" name="Google Shape;34;p7"/>
          <p:cNvSpPr txBox="1"/>
          <p:nvPr>
            <p:ph idx="1" type="body"/>
          </p:nvPr>
        </p:nvSpPr>
        <p:spPr>
          <a:xfrm>
            <a:off x="365760" y="1463040"/>
            <a:ext cx="8412600" cy="310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 name="Google Shape;35;p7"/>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7"/>
          <p:cNvSpPr txBox="1"/>
          <p:nvPr/>
        </p:nvSpPr>
        <p:spPr>
          <a:xfrm>
            <a:off x="365760" y="4599432"/>
            <a:ext cx="84126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888888"/>
                </a:solidFill>
                <a:latin typeface="Roboto"/>
                <a:ea typeface="Roboto"/>
                <a:cs typeface="Roboto"/>
                <a:sym typeface="Roboto"/>
              </a:rPr>
              <a:t>Analyze   ·   </a:t>
            </a:r>
            <a:r>
              <a:rPr b="1" lang="en" sz="1000">
                <a:solidFill>
                  <a:srgbClr val="1F4E79"/>
                </a:solidFill>
                <a:latin typeface="Roboto"/>
                <a:ea typeface="Roboto"/>
                <a:cs typeface="Roboto"/>
                <a:sym typeface="Roboto"/>
              </a:rPr>
              <a:t>Profile</a:t>
            </a:r>
            <a:r>
              <a:rPr lang="en" sz="1000">
                <a:solidFill>
                  <a:srgbClr val="888888"/>
                </a:solidFill>
                <a:latin typeface="Roboto"/>
                <a:ea typeface="Roboto"/>
                <a:cs typeface="Roboto"/>
                <a:sym typeface="Roboto"/>
              </a:rPr>
              <a:t>   ·   Optimize   ·   Accelerate   ·   Trade-offs</a:t>
            </a:r>
            <a:endParaRPr sz="1000">
              <a:solidFill>
                <a:srgbClr val="888888"/>
              </a:solidFill>
              <a:latin typeface="Roboto"/>
              <a:ea typeface="Roboto"/>
              <a:cs typeface="Roboto"/>
              <a:sym typeface="Robo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nalyze">
  <p:cSld name="TITLE_AND_BODY_1">
    <p:spTree>
      <p:nvGrpSpPr>
        <p:cNvPr id="37" name="Shape 37"/>
        <p:cNvGrpSpPr/>
        <p:nvPr/>
      </p:nvGrpSpPr>
      <p:grpSpPr>
        <a:xfrm>
          <a:off x="0" y="0"/>
          <a:ext cx="0" cy="0"/>
          <a:chOff x="0" y="0"/>
          <a:chExt cx="0" cy="0"/>
        </a:xfrm>
      </p:grpSpPr>
      <p:sp>
        <p:nvSpPr>
          <p:cNvPr id="38" name="Google Shape;38;p8"/>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lvl1pPr lvl="0">
              <a:spcBef>
                <a:spcPts val="0"/>
              </a:spcBef>
              <a:spcAft>
                <a:spcPts val="0"/>
              </a:spcAft>
              <a:buClr>
                <a:srgbClr val="222222"/>
              </a:buClr>
              <a:buSzPts val="2200"/>
              <a:buNone/>
              <a:defRPr sz="2200">
                <a:solidFill>
                  <a:srgbClr val="222222"/>
                </a:solidFill>
              </a:defRPr>
            </a:lvl1pPr>
            <a:lvl2pPr lvl="1">
              <a:spcBef>
                <a:spcPts val="0"/>
              </a:spcBef>
              <a:spcAft>
                <a:spcPts val="0"/>
              </a:spcAft>
              <a:buClr>
                <a:srgbClr val="222222"/>
              </a:buClr>
              <a:buSzPts val="2600"/>
              <a:buNone/>
              <a:defRPr sz="2600">
                <a:solidFill>
                  <a:srgbClr val="222222"/>
                </a:solidFill>
              </a:defRPr>
            </a:lvl2pPr>
            <a:lvl3pPr lvl="2">
              <a:spcBef>
                <a:spcPts val="0"/>
              </a:spcBef>
              <a:spcAft>
                <a:spcPts val="0"/>
              </a:spcAft>
              <a:buClr>
                <a:srgbClr val="222222"/>
              </a:buClr>
              <a:buSzPts val="2600"/>
              <a:buNone/>
              <a:defRPr sz="2600">
                <a:solidFill>
                  <a:srgbClr val="222222"/>
                </a:solidFill>
              </a:defRPr>
            </a:lvl3pPr>
            <a:lvl4pPr lvl="3">
              <a:spcBef>
                <a:spcPts val="0"/>
              </a:spcBef>
              <a:spcAft>
                <a:spcPts val="0"/>
              </a:spcAft>
              <a:buClr>
                <a:srgbClr val="222222"/>
              </a:buClr>
              <a:buSzPts val="2600"/>
              <a:buNone/>
              <a:defRPr sz="2600">
                <a:solidFill>
                  <a:srgbClr val="222222"/>
                </a:solidFill>
              </a:defRPr>
            </a:lvl4pPr>
            <a:lvl5pPr lvl="4">
              <a:spcBef>
                <a:spcPts val="0"/>
              </a:spcBef>
              <a:spcAft>
                <a:spcPts val="0"/>
              </a:spcAft>
              <a:buClr>
                <a:srgbClr val="222222"/>
              </a:buClr>
              <a:buSzPts val="2600"/>
              <a:buNone/>
              <a:defRPr sz="2600">
                <a:solidFill>
                  <a:srgbClr val="222222"/>
                </a:solidFill>
              </a:defRPr>
            </a:lvl5pPr>
            <a:lvl6pPr lvl="5">
              <a:spcBef>
                <a:spcPts val="0"/>
              </a:spcBef>
              <a:spcAft>
                <a:spcPts val="0"/>
              </a:spcAft>
              <a:buClr>
                <a:srgbClr val="222222"/>
              </a:buClr>
              <a:buSzPts val="2600"/>
              <a:buNone/>
              <a:defRPr sz="2600">
                <a:solidFill>
                  <a:srgbClr val="222222"/>
                </a:solidFill>
              </a:defRPr>
            </a:lvl6pPr>
            <a:lvl7pPr lvl="6">
              <a:spcBef>
                <a:spcPts val="0"/>
              </a:spcBef>
              <a:spcAft>
                <a:spcPts val="0"/>
              </a:spcAft>
              <a:buClr>
                <a:srgbClr val="222222"/>
              </a:buClr>
              <a:buSzPts val="2600"/>
              <a:buNone/>
              <a:defRPr sz="2600">
                <a:solidFill>
                  <a:srgbClr val="222222"/>
                </a:solidFill>
              </a:defRPr>
            </a:lvl7pPr>
            <a:lvl8pPr lvl="7">
              <a:spcBef>
                <a:spcPts val="0"/>
              </a:spcBef>
              <a:spcAft>
                <a:spcPts val="0"/>
              </a:spcAft>
              <a:buClr>
                <a:srgbClr val="222222"/>
              </a:buClr>
              <a:buSzPts val="2600"/>
              <a:buNone/>
              <a:defRPr sz="2600">
                <a:solidFill>
                  <a:srgbClr val="222222"/>
                </a:solidFill>
              </a:defRPr>
            </a:lvl8pPr>
            <a:lvl9pPr lvl="8">
              <a:spcBef>
                <a:spcPts val="0"/>
              </a:spcBef>
              <a:spcAft>
                <a:spcPts val="0"/>
              </a:spcAft>
              <a:buClr>
                <a:srgbClr val="222222"/>
              </a:buClr>
              <a:buSzPts val="2600"/>
              <a:buNone/>
              <a:defRPr sz="2600">
                <a:solidFill>
                  <a:srgbClr val="222222"/>
                </a:solidFill>
              </a:defRPr>
            </a:lvl9pPr>
          </a:lstStyle>
          <a:p/>
        </p:txBody>
      </p:sp>
      <p:sp>
        <p:nvSpPr>
          <p:cNvPr id="39" name="Google Shape;39;p8"/>
          <p:cNvSpPr txBox="1"/>
          <p:nvPr>
            <p:ph idx="1" type="body"/>
          </p:nvPr>
        </p:nvSpPr>
        <p:spPr>
          <a:xfrm>
            <a:off x="365760" y="1463040"/>
            <a:ext cx="8412600" cy="310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8"/>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8"/>
          <p:cNvSpPr txBox="1"/>
          <p:nvPr/>
        </p:nvSpPr>
        <p:spPr>
          <a:xfrm>
            <a:off x="365760" y="4599432"/>
            <a:ext cx="84126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rgbClr val="1F4E79"/>
                </a:solidFill>
                <a:latin typeface="Roboto"/>
                <a:ea typeface="Roboto"/>
                <a:cs typeface="Roboto"/>
                <a:sym typeface="Roboto"/>
              </a:rPr>
              <a:t>Analyze</a:t>
            </a:r>
            <a:r>
              <a:rPr lang="en" sz="1000">
                <a:solidFill>
                  <a:srgbClr val="888888"/>
                </a:solidFill>
                <a:latin typeface="Roboto"/>
                <a:ea typeface="Roboto"/>
                <a:cs typeface="Roboto"/>
                <a:sym typeface="Roboto"/>
              </a:rPr>
              <a:t>   ·   Profile   ·   Optimize   ·   Accelerate   ·   Trade-offs</a:t>
            </a:r>
            <a:endParaRPr sz="1000">
              <a:solidFill>
                <a:srgbClr val="888888"/>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 name="Shape 42"/>
        <p:cNvGrpSpPr/>
        <p:nvPr/>
      </p:nvGrpSpPr>
      <p:grpSpPr>
        <a:xfrm>
          <a:off x="0" y="0"/>
          <a:ext cx="0" cy="0"/>
          <a:chOff x="0" y="0"/>
          <a:chExt cx="0" cy="0"/>
        </a:xfrm>
      </p:grpSpPr>
      <p:sp>
        <p:nvSpPr>
          <p:cNvPr id="43" name="Google Shape;4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1F4E79"/>
              </a:buClr>
              <a:buSzPts val="2800"/>
              <a:buFont typeface="Roboto"/>
              <a:buNone/>
              <a:defRPr sz="2800">
                <a:solidFill>
                  <a:srgbClr val="1F4E79"/>
                </a:solidFill>
                <a:latin typeface="Roboto"/>
                <a:ea typeface="Roboto"/>
                <a:cs typeface="Roboto"/>
                <a:sym typeface="Roboto"/>
              </a:defRPr>
            </a:lvl1pPr>
            <a:lvl2pPr lvl="1">
              <a:spcBef>
                <a:spcPts val="0"/>
              </a:spcBef>
              <a:spcAft>
                <a:spcPts val="0"/>
              </a:spcAft>
              <a:buClr>
                <a:srgbClr val="1F4E79"/>
              </a:buClr>
              <a:buSzPts val="2800"/>
              <a:buFont typeface="Roboto"/>
              <a:buNone/>
              <a:defRPr sz="2800">
                <a:solidFill>
                  <a:srgbClr val="1F4E79"/>
                </a:solidFill>
                <a:latin typeface="Roboto"/>
                <a:ea typeface="Roboto"/>
                <a:cs typeface="Roboto"/>
                <a:sym typeface="Roboto"/>
              </a:defRPr>
            </a:lvl2pPr>
            <a:lvl3pPr lvl="2">
              <a:spcBef>
                <a:spcPts val="0"/>
              </a:spcBef>
              <a:spcAft>
                <a:spcPts val="0"/>
              </a:spcAft>
              <a:buClr>
                <a:srgbClr val="1F4E79"/>
              </a:buClr>
              <a:buSzPts val="2800"/>
              <a:buFont typeface="Roboto"/>
              <a:buNone/>
              <a:defRPr sz="2800">
                <a:solidFill>
                  <a:srgbClr val="1F4E79"/>
                </a:solidFill>
                <a:latin typeface="Roboto"/>
                <a:ea typeface="Roboto"/>
                <a:cs typeface="Roboto"/>
                <a:sym typeface="Roboto"/>
              </a:defRPr>
            </a:lvl3pPr>
            <a:lvl4pPr lvl="3">
              <a:spcBef>
                <a:spcPts val="0"/>
              </a:spcBef>
              <a:spcAft>
                <a:spcPts val="0"/>
              </a:spcAft>
              <a:buClr>
                <a:srgbClr val="1F4E79"/>
              </a:buClr>
              <a:buSzPts val="2800"/>
              <a:buFont typeface="Roboto"/>
              <a:buNone/>
              <a:defRPr sz="2800">
                <a:solidFill>
                  <a:srgbClr val="1F4E79"/>
                </a:solidFill>
                <a:latin typeface="Roboto"/>
                <a:ea typeface="Roboto"/>
                <a:cs typeface="Roboto"/>
                <a:sym typeface="Roboto"/>
              </a:defRPr>
            </a:lvl4pPr>
            <a:lvl5pPr lvl="4">
              <a:spcBef>
                <a:spcPts val="0"/>
              </a:spcBef>
              <a:spcAft>
                <a:spcPts val="0"/>
              </a:spcAft>
              <a:buClr>
                <a:srgbClr val="1F4E79"/>
              </a:buClr>
              <a:buSzPts val="2800"/>
              <a:buFont typeface="Roboto"/>
              <a:buNone/>
              <a:defRPr sz="2800">
                <a:solidFill>
                  <a:srgbClr val="1F4E79"/>
                </a:solidFill>
                <a:latin typeface="Roboto"/>
                <a:ea typeface="Roboto"/>
                <a:cs typeface="Roboto"/>
                <a:sym typeface="Roboto"/>
              </a:defRPr>
            </a:lvl5pPr>
            <a:lvl6pPr lvl="5">
              <a:spcBef>
                <a:spcPts val="0"/>
              </a:spcBef>
              <a:spcAft>
                <a:spcPts val="0"/>
              </a:spcAft>
              <a:buClr>
                <a:srgbClr val="1F4E79"/>
              </a:buClr>
              <a:buSzPts val="2800"/>
              <a:buFont typeface="Roboto"/>
              <a:buNone/>
              <a:defRPr sz="2800">
                <a:solidFill>
                  <a:srgbClr val="1F4E79"/>
                </a:solidFill>
                <a:latin typeface="Roboto"/>
                <a:ea typeface="Roboto"/>
                <a:cs typeface="Roboto"/>
                <a:sym typeface="Roboto"/>
              </a:defRPr>
            </a:lvl6pPr>
            <a:lvl7pPr lvl="6">
              <a:spcBef>
                <a:spcPts val="0"/>
              </a:spcBef>
              <a:spcAft>
                <a:spcPts val="0"/>
              </a:spcAft>
              <a:buClr>
                <a:srgbClr val="1F4E79"/>
              </a:buClr>
              <a:buSzPts val="2800"/>
              <a:buFont typeface="Roboto"/>
              <a:buNone/>
              <a:defRPr sz="2800">
                <a:solidFill>
                  <a:srgbClr val="1F4E79"/>
                </a:solidFill>
                <a:latin typeface="Roboto"/>
                <a:ea typeface="Roboto"/>
                <a:cs typeface="Roboto"/>
                <a:sym typeface="Roboto"/>
              </a:defRPr>
            </a:lvl7pPr>
            <a:lvl8pPr lvl="7">
              <a:spcBef>
                <a:spcPts val="0"/>
              </a:spcBef>
              <a:spcAft>
                <a:spcPts val="0"/>
              </a:spcAft>
              <a:buClr>
                <a:srgbClr val="1F4E79"/>
              </a:buClr>
              <a:buSzPts val="2800"/>
              <a:buFont typeface="Roboto"/>
              <a:buNone/>
              <a:defRPr sz="2800">
                <a:solidFill>
                  <a:srgbClr val="1F4E79"/>
                </a:solidFill>
                <a:latin typeface="Roboto"/>
                <a:ea typeface="Roboto"/>
                <a:cs typeface="Roboto"/>
                <a:sym typeface="Roboto"/>
              </a:defRPr>
            </a:lvl8pPr>
            <a:lvl9pPr lvl="8">
              <a:spcBef>
                <a:spcPts val="0"/>
              </a:spcBef>
              <a:spcAft>
                <a:spcPts val="0"/>
              </a:spcAft>
              <a:buClr>
                <a:srgbClr val="1F4E79"/>
              </a:buClr>
              <a:buSzPts val="2800"/>
              <a:buFont typeface="Roboto"/>
              <a:buNone/>
              <a:defRPr sz="2800">
                <a:solidFill>
                  <a:srgbClr val="1F4E79"/>
                </a:solidFill>
                <a:latin typeface="Roboto"/>
                <a:ea typeface="Roboto"/>
                <a:cs typeface="Roboto"/>
                <a:sym typeface="Robot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0"/>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Two Python benchmarks, measured end to end: profiling, optimization, and three hardware accelerators</a:t>
            </a:r>
            <a:endParaRPr/>
          </a:p>
        </p:txBody>
      </p:sp>
      <p:sp>
        <p:nvSpPr>
          <p:cNvPr id="49" name="Google Shape;49;p10"/>
          <p:cNvSpPr txBox="1"/>
          <p:nvPr>
            <p:ph idx="1" type="subTitle"/>
          </p:nvPr>
        </p:nvSpPr>
        <p:spPr>
          <a:xfrm>
            <a:off x="311700" y="2834125"/>
            <a:ext cx="8520600" cy="17373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nbody and pyflate from pyperformance</a:t>
            </a:r>
            <a:endParaRPr/>
          </a:p>
          <a:p>
            <a:pPr indent="0" lvl="0" marL="0" rtl="0" algn="ctr">
              <a:spcBef>
                <a:spcPts val="0"/>
              </a:spcBef>
              <a:spcAft>
                <a:spcPts val="0"/>
              </a:spcAft>
              <a:buNone/>
            </a:pPr>
            <a:r>
              <a:rPr lang="en"/>
              <a:t>Matan Cohen · Yuval Kogan</a:t>
            </a:r>
            <a:endParaRPr/>
          </a:p>
          <a:p>
            <a:pPr indent="0" lvl="0" marL="0" rtl="0" algn="ctr">
              <a:spcBef>
                <a:spcPts val="0"/>
              </a:spcBef>
              <a:spcAft>
                <a:spcPts val="0"/>
              </a:spcAft>
              <a:buNone/>
            </a:pPr>
            <a:r>
              <a:rPr lang="en"/>
              <a:t>00460882 HW/SW Co-design, Technion, Final Project</a:t>
            </a:r>
            <a:endParaRPr/>
          </a:p>
          <a:p>
            <a:pPr indent="0" lvl="0" marL="0" rtl="0" algn="ctr">
              <a:spcBef>
                <a:spcPts val="0"/>
              </a:spcBef>
              <a:spcAft>
                <a:spcPts val="0"/>
              </a:spcAft>
              <a:buNone/>
            </a:pPr>
            <a:r>
              <a:rPr lang="en"/>
              <a:t>6 October 2026</a:t>
            </a:r>
            <a:endParaRPr/>
          </a:p>
          <a:p>
            <a:pPr indent="0" lvl="0" marL="0" rtl="0" algn="ctr">
              <a:spcBef>
                <a:spcPts val="0"/>
              </a:spcBef>
              <a:spcAft>
                <a:spcPts val="0"/>
              </a:spcAft>
              <a:buNone/>
            </a:pPr>
            <a:r>
              <a:rPr lang="en"/>
              <a:t>github.com/matanco64/HWSW_Project</a:t>
            </a:r>
            <a:endParaRPr/>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1"/>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pure-Python pyperformance workloads, one question: where does the time go, and what would it take to move it to hardware?</a:t>
            </a:r>
            <a:endParaRPr/>
          </a:p>
        </p:txBody>
      </p:sp>
      <p:sp>
        <p:nvSpPr>
          <p:cNvPr id="56" name="Google Shape;56;p11"/>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57" name="Google Shape;57;p11"/>
          <p:cNvGraphicFramePr/>
          <p:nvPr/>
        </p:nvGraphicFramePr>
        <p:xfrm>
          <a:off x="365760" y="2103120"/>
          <a:ext cx="3000000" cy="3000000"/>
        </p:xfrm>
        <a:graphic>
          <a:graphicData uri="http://schemas.openxmlformats.org/drawingml/2006/table">
            <a:tbl>
              <a:tblPr>
                <a:noFill/>
                <a:tableStyleId>{86497FD9-E7ED-435D-BB61-336411573E9E}</a:tableStyleId>
              </a:tblPr>
              <a:tblGrid>
                <a:gridCol w="2804150"/>
                <a:gridCol w="2804150"/>
                <a:gridCol w="2804150"/>
              </a:tblGrid>
              <a:tr h="381000">
                <a:tc>
                  <a:txBody>
                    <a:bodyPr/>
                    <a:lstStyle/>
                    <a:p>
                      <a:pPr indent="0" lvl="0" marL="0" rtl="0" algn="l">
                        <a:spcBef>
                          <a:spcPts val="0"/>
                        </a:spcBef>
                        <a:spcAft>
                          <a:spcPts val="0"/>
                        </a:spcAft>
                        <a:buNone/>
                      </a:pPr>
                      <a:r>
                        <a:rPr b="1" lang="en">
                          <a:solidFill>
                            <a:schemeClr val="lt1"/>
                          </a:solidFill>
                          <a:latin typeface="Roboto"/>
                          <a:ea typeface="Roboto"/>
                          <a:cs typeface="Roboto"/>
                          <a:sym typeface="Roboto"/>
                        </a:rPr>
                        <a:t>Tier</a:t>
                      </a:r>
                      <a:endParaRPr b="1">
                        <a:solidFill>
                          <a:schemeClr val="lt1"/>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a:solidFill>
                            <a:schemeClr val="lt1"/>
                          </a:solidFill>
                          <a:latin typeface="Roboto"/>
                          <a:ea typeface="Roboto"/>
                          <a:cs typeface="Roboto"/>
                          <a:sym typeface="Roboto"/>
                        </a:rPr>
                        <a:t>nbody</a:t>
                      </a:r>
                      <a:endParaRPr b="1">
                        <a:solidFill>
                          <a:schemeClr val="lt1"/>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a:solidFill>
                            <a:schemeClr val="lt1"/>
                          </a:solidFill>
                          <a:latin typeface="Roboto"/>
                          <a:ea typeface="Roboto"/>
                          <a:cs typeface="Roboto"/>
                          <a:sym typeface="Roboto"/>
                        </a:rPr>
                        <a:t>pyflate</a:t>
                      </a:r>
                      <a:endParaRPr b="1">
                        <a:solidFill>
                          <a:schemeClr val="lt1"/>
                        </a:solidFill>
                        <a:latin typeface="Roboto"/>
                        <a:ea typeface="Roboto"/>
                        <a:cs typeface="Roboto"/>
                        <a:sym typeface="Roboto"/>
                      </a:endParaRPr>
                    </a:p>
                  </a:txBody>
                  <a:tcPr marT="91425" marB="91425" marR="91425" marL="91425">
                    <a:solidFill>
                      <a:srgbClr val="1F4E79"/>
                    </a:solidFill>
                  </a:tcPr>
                </a:tc>
              </a:tr>
              <a:tr h="381000">
                <a:tc>
                  <a:txBody>
                    <a:bodyPr/>
                    <a:lstStyle/>
                    <a:p>
                      <a:pPr indent="0" lvl="0" marL="0" rtl="0" algn="l">
                        <a:spcBef>
                          <a:spcPts val="0"/>
                        </a:spcBef>
                        <a:spcAft>
                          <a:spcPts val="0"/>
                        </a:spcAft>
                        <a:buNone/>
                      </a:pPr>
                      <a:r>
                        <a:rPr lang="en" sz="1600">
                          <a:latin typeface="Roboto"/>
                          <a:ea typeface="Roboto"/>
                          <a:cs typeface="Roboto"/>
                          <a:sym typeface="Roboto"/>
                        </a:rPr>
                        <a:t>Original Python (pyperformance)</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231.20 ms, 1.00x</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1,123.49 ms, 1.00x</a:t>
                      </a:r>
                      <a:endParaRPr sz="16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600">
                          <a:latin typeface="Roboto"/>
                          <a:ea typeface="Roboto"/>
                          <a:cs typeface="Roboto"/>
                          <a:sym typeface="Roboto"/>
                        </a:rPr>
                        <a:t>Optimized Python (pyperformance)</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143.13 ms, 1.62x</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281.16 ms, 4.00x</a:t>
                      </a:r>
                      <a:endParaRPr sz="16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600">
                          <a:latin typeface="Roboto"/>
                          <a:ea typeface="Roboto"/>
                          <a:cs typeface="Roboto"/>
                          <a:sym typeface="Roboto"/>
                        </a:rPr>
                        <a:t>Python + Rust (direct pyperf)</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9.530 ms, 24.26x vs original</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170.01 ms, 6.61x vs original</a:t>
                      </a:r>
                      <a:endParaRPr sz="1600">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nbody is 5 bodies, 10 pairs and 20,000 steps of pure-Python float arithmetic</a:t>
            </a:r>
            <a:endParaRPr/>
          </a:p>
        </p:txBody>
      </p:sp>
      <p:sp>
        <p:nvSpPr>
          <p:cNvPr id="63" name="Google Shape;63;p12"/>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4" name="Google Shape;64;p12" title="nbody_pairs.png"/>
          <p:cNvPicPr preferRelativeResize="0"/>
          <p:nvPr/>
        </p:nvPicPr>
        <p:blipFill>
          <a:blip r:embed="rId3">
            <a:alphaModFix/>
          </a:blip>
          <a:stretch>
            <a:fillRect/>
          </a:stretch>
        </p:blipFill>
        <p:spPr>
          <a:xfrm>
            <a:off x="365760" y="1463040"/>
            <a:ext cx="8412481" cy="23053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3"/>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97.7% of samples sit in advance(); list indexing and float boxing dominate the C frames</a:t>
            </a:r>
            <a:endParaRPr/>
          </a:p>
        </p:txBody>
      </p:sp>
      <p:sp>
        <p:nvSpPr>
          <p:cNvPr id="70" name="Google Shape;70;p13"/>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1" name="Google Shape;71;p13" title="print_nbody_stock_slide.png"/>
          <p:cNvPicPr preferRelativeResize="0"/>
          <p:nvPr/>
        </p:nvPicPr>
        <p:blipFill>
          <a:blip r:embed="rId3">
            <a:alphaModFix/>
          </a:blip>
          <a:stretch>
            <a:fillRect/>
          </a:stretch>
        </p:blipFill>
        <p:spPr>
          <a:xfrm>
            <a:off x="365760" y="1463040"/>
            <a:ext cx="8412480" cy="24967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Specializing advance() to the fixed pair list removes the list traffic: 231.20 → 143.13 ms, 1.62x, bit-identical state</a:t>
            </a:r>
            <a:endParaRPr/>
          </a:p>
        </p:txBody>
      </p:sp>
      <p:sp>
        <p:nvSpPr>
          <p:cNvPr id="77" name="Google Shape;77;p14"/>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8" name="Google Shape;78;p14" title="print_nbody_opt_slide.png"/>
          <p:cNvPicPr preferRelativeResize="0"/>
          <p:nvPr/>
        </p:nvPicPr>
        <p:blipFill>
          <a:blip r:embed="rId3">
            <a:alphaModFix/>
          </a:blip>
          <a:stretch>
            <a:fillRect/>
          </a:stretch>
        </p:blipFill>
        <p:spPr>
          <a:xfrm>
            <a:off x="365760" y="1463040"/>
            <a:ext cx="8412480" cy="20791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Struct-of-arrays and NumPy lose at N = 5; only leaving Python wins: the Rust tier runs in 9.530 ms</a:t>
            </a:r>
            <a:endParaRPr/>
          </a:p>
        </p:txBody>
      </p:sp>
      <p:sp>
        <p:nvSpPr>
          <p:cNvPr id="84" name="Google Shape;84;p15"/>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85" name="Google Shape;85;p15"/>
          <p:cNvGraphicFramePr/>
          <p:nvPr/>
        </p:nvGraphicFramePr>
        <p:xfrm>
          <a:off x="365760" y="1463040"/>
          <a:ext cx="3000000" cy="3000000"/>
        </p:xfrm>
        <a:graphic>
          <a:graphicData uri="http://schemas.openxmlformats.org/drawingml/2006/table">
            <a:tbl>
              <a:tblPr>
                <a:noFill/>
                <a:tableStyleId>{82F3850C-69AE-44F1-A2F3-003B56526B79}</a:tableStyleId>
              </a:tblPr>
              <a:tblGrid>
                <a:gridCol w="1885950"/>
                <a:gridCol w="1866900"/>
                <a:gridCol w="2838450"/>
                <a:gridCol w="1819275"/>
              </a:tblGrid>
              <a:tr h="257175">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Variant</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Result</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Denominator</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Evidence</a:t>
                      </a:r>
                      <a:endParaRPr b="1" sz="1600">
                        <a:solidFill>
                          <a:srgbClr val="FFFFFF"/>
                        </a:solidFill>
                        <a:latin typeface="Roboto"/>
                        <a:ea typeface="Roboto"/>
                        <a:cs typeface="Roboto"/>
                        <a:sym typeface="Roboto"/>
                      </a:endParaRPr>
                    </a:p>
                  </a:txBody>
                  <a:tcPr marT="91425" marB="91425" marR="91425" marL="91425">
                    <a:solidFill>
                      <a:srgbClr val="1F4E79"/>
                    </a:solidFill>
                  </a:tcPr>
                </a:tc>
              </a:tr>
              <a:tr h="428625">
                <a:tc>
                  <a:txBody>
                    <a:bodyPr/>
                    <a:lstStyle/>
                    <a:p>
                      <a:pPr indent="0" lvl="0" marL="0" rtl="0" algn="l">
                        <a:spcBef>
                          <a:spcPts val="0"/>
                        </a:spcBef>
                        <a:spcAft>
                          <a:spcPts val="0"/>
                        </a:spcAft>
                        <a:buNone/>
                      </a:pPr>
                      <a:r>
                        <a:rPr lang="en">
                          <a:latin typeface="Roboto"/>
                          <a:ea typeface="Roboto"/>
                          <a:cs typeface="Roboto"/>
                          <a:sym typeface="Roboto"/>
                        </a:rPr>
                        <a:t>Struct-of-arrays (development)</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0.88x</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original’s speed</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development host, not the VM</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NumPy (development)</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0.35–0.46x</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original’s speed</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development host, not the VM</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Barnes-Hut at N = 5</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3.92x slower (0.077 vs 0.020 ms)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direct summation</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VM force sweep</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Native Rust, 9.530 ms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15.25x</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optimized Python under direct pyperf, 145.30 ms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VM canonical run</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Native Rust, 9.530 ms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24.26x</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original under pyperformance, 231.20 ms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VM canonical run</a:t>
                      </a:r>
                      <a:endParaRPr>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Native runs 26.7x fewer instructions while IPC drops from 3.28 to 1.83: the win is instruction count, not the pipeline</a:t>
            </a:r>
            <a:endParaRPr/>
          </a:p>
        </p:txBody>
      </p:sp>
      <p:sp>
        <p:nvSpPr>
          <p:cNvPr id="91" name="Google Shape;91;p16"/>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92" name="Google Shape;92;p16"/>
          <p:cNvGraphicFramePr/>
          <p:nvPr/>
        </p:nvGraphicFramePr>
        <p:xfrm>
          <a:off x="365760" y="1463040"/>
          <a:ext cx="3000000" cy="3000000"/>
        </p:xfrm>
        <a:graphic>
          <a:graphicData uri="http://schemas.openxmlformats.org/drawingml/2006/table">
            <a:tbl>
              <a:tblPr>
                <a:noFill/>
                <a:tableStyleId>{82F3850C-69AE-44F1-A2F3-003B56526B79}</a:tableStyleId>
              </a:tblPr>
              <a:tblGrid>
                <a:gridCol w="1971675"/>
                <a:gridCol w="2838450"/>
                <a:gridCol w="1838325"/>
                <a:gridCol w="1752600"/>
              </a:tblGrid>
              <a:tr h="257175">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Per iteration</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Optimized Python</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Native Rust</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Ratio</a:t>
                      </a:r>
                      <a:endParaRPr b="1" sz="1600">
                        <a:solidFill>
                          <a:srgbClr val="FFFFFF"/>
                        </a:solidFill>
                        <a:latin typeface="Roboto"/>
                        <a:ea typeface="Roboto"/>
                        <a:cs typeface="Roboto"/>
                        <a:sym typeface="Roboto"/>
                      </a:endParaRPr>
                    </a:p>
                  </a:txBody>
                  <a:tcPr marT="91425" marB="91425" marR="91425" marL="91425">
                    <a:solidFill>
                      <a:srgbClr val="1F4E79"/>
                    </a:solidFill>
                  </a:tcPr>
                </a:tc>
              </a:tr>
              <a:tr h="257175">
                <a:tc>
                  <a:txBody>
                    <a:bodyPr/>
                    <a:lstStyle/>
                    <a:p>
                      <a:pPr indent="0" lvl="0" marL="0" rtl="0" algn="l">
                        <a:spcBef>
                          <a:spcPts val="0"/>
                        </a:spcBef>
                        <a:spcAft>
                          <a:spcPts val="0"/>
                        </a:spcAft>
                        <a:buNone/>
                      </a:pPr>
                      <a:r>
                        <a:rPr lang="en" sz="1600">
                          <a:latin typeface="Roboto"/>
                          <a:ea typeface="Roboto"/>
                          <a:cs typeface="Roboto"/>
                          <a:sym typeface="Roboto"/>
                        </a:rPr>
                        <a:t>Elapsed time</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141.08 ms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9.462 ms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57175">
                <a:tc>
                  <a:txBody>
                    <a:bodyPr/>
                    <a:lstStyle/>
                    <a:p>
                      <a:pPr indent="0" lvl="0" marL="0" rtl="0" algn="l">
                        <a:spcBef>
                          <a:spcPts val="0"/>
                        </a:spcBef>
                        <a:spcAft>
                          <a:spcPts val="0"/>
                        </a:spcAft>
                        <a:buNone/>
                      </a:pPr>
                      <a:r>
                        <a:rPr lang="en" sz="1600">
                          <a:latin typeface="Roboto"/>
                          <a:ea typeface="Roboto"/>
                          <a:cs typeface="Roboto"/>
                          <a:sym typeface="Roboto"/>
                        </a:rPr>
                        <a:t>Instructions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1,103.62 M</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41.32 M</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26.7x fewer</a:t>
                      </a:r>
                      <a:endParaRPr sz="1600">
                        <a:latin typeface="Roboto"/>
                        <a:ea typeface="Roboto"/>
                        <a:cs typeface="Roboto"/>
                        <a:sym typeface="Roboto"/>
                      </a:endParaRPr>
                    </a:p>
                  </a:txBody>
                  <a:tcPr marT="91425" marB="91425" marR="91425" marL="91425"/>
                </a:tc>
              </a:tr>
              <a:tr h="257175">
                <a:tc>
                  <a:txBody>
                    <a:bodyPr/>
                    <a:lstStyle/>
                    <a:p>
                      <a:pPr indent="0" lvl="0" marL="0" rtl="0" algn="l">
                        <a:spcBef>
                          <a:spcPts val="0"/>
                        </a:spcBef>
                        <a:spcAft>
                          <a:spcPts val="0"/>
                        </a:spcAft>
                        <a:buNone/>
                      </a:pPr>
                      <a:r>
                        <a:rPr lang="en" sz="1600">
                          <a:latin typeface="Roboto"/>
                          <a:ea typeface="Roboto"/>
                          <a:cs typeface="Roboto"/>
                          <a:sym typeface="Roboto"/>
                        </a:rPr>
                        <a:t>Cycles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336.24 M</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22.55 M</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14.9x fewer</a:t>
                      </a:r>
                      <a:endParaRPr sz="1600">
                        <a:latin typeface="Roboto"/>
                        <a:ea typeface="Roboto"/>
                        <a:cs typeface="Roboto"/>
                        <a:sym typeface="Roboto"/>
                      </a:endParaRPr>
                    </a:p>
                  </a:txBody>
                  <a:tcPr marT="91425" marB="91425" marR="91425" marL="91425"/>
                </a:tc>
              </a:tr>
              <a:tr h="257175">
                <a:tc>
                  <a:txBody>
                    <a:bodyPr/>
                    <a:lstStyle/>
                    <a:p>
                      <a:pPr indent="0" lvl="0" marL="0" rtl="0" algn="l">
                        <a:spcBef>
                          <a:spcPts val="0"/>
                        </a:spcBef>
                        <a:spcAft>
                          <a:spcPts val="0"/>
                        </a:spcAft>
                        <a:buNone/>
                      </a:pPr>
                      <a:r>
                        <a:rPr lang="en" sz="1600">
                          <a:latin typeface="Roboto"/>
                          <a:ea typeface="Roboto"/>
                          <a:cs typeface="Roboto"/>
                          <a:sym typeface="Roboto"/>
                        </a:rPr>
                        <a:t>IPC</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3.28</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1.83</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lower</a:t>
                      </a:r>
                      <a:endParaRPr sz="1600">
                        <a:latin typeface="Roboto"/>
                        <a:ea typeface="Roboto"/>
                        <a:cs typeface="Roboto"/>
                        <a:sym typeface="Roboto"/>
                      </a:endParaRPr>
                    </a:p>
                  </a:txBody>
                  <a:tcPr marT="91425" marB="91425" marR="91425" marL="91425"/>
                </a:tc>
              </a:tr>
              <a:tr h="257175">
                <a:tc>
                  <a:txBody>
                    <a:bodyPr/>
                    <a:lstStyle/>
                    <a:p>
                      <a:pPr indent="0" lvl="0" marL="0" rtl="0" algn="l">
                        <a:spcBef>
                          <a:spcPts val="0"/>
                        </a:spcBef>
                        <a:spcAft>
                          <a:spcPts val="0"/>
                        </a:spcAft>
                        <a:buNone/>
                      </a:pPr>
                      <a:r>
                        <a:rPr lang="en" sz="1600">
                          <a:latin typeface="Roboto"/>
                          <a:ea typeface="Roboto"/>
                          <a:cs typeface="Roboto"/>
                          <a:sym typeface="Roboto"/>
                        </a:rPr>
                        <a:t>Branches</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185.97 M</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3.92 M</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advance() is 95% of the remaining time, so the whole step goes on-chip after one doorbell</a:t>
            </a:r>
            <a:endParaRPr/>
          </a:p>
        </p:txBody>
      </p:sp>
      <p:sp>
        <p:nvSpPr>
          <p:cNvPr id="98" name="Google Shape;98;p17"/>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99" name="Google Shape;99;p17" title="grape_report.png"/>
          <p:cNvPicPr preferRelativeResize="0"/>
          <p:nvPr/>
        </p:nvPicPr>
        <p:blipFill>
          <a:blip r:embed="rId3">
            <a:alphaModFix/>
          </a:blip>
          <a:stretch>
            <a:fillRect/>
          </a:stretch>
        </p:blipFill>
        <p:spPr>
          <a:xfrm>
            <a:off x="365760" y="1463040"/>
            <a:ext cx="8412481" cy="25489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grape_pipeline computes full IEEE FP64 in the benchmark's own operation order, with 3 adders and 3 multipliers chosen by a cycle model</a:t>
            </a:r>
            <a:endParaRPr/>
          </a:p>
        </p:txBody>
      </p:sp>
      <p:sp>
        <p:nvSpPr>
          <p:cNvPr id="105" name="Google Shape;105;p18"/>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6" name="Google Shape;106;p18" title="grape_block_diagram.png"/>
          <p:cNvPicPr preferRelativeResize="0"/>
          <p:nvPr/>
        </p:nvPicPr>
        <p:blipFill>
          <a:blip r:embed="rId3">
            <a:alphaModFix/>
          </a:blip>
          <a:stretch>
            <a:fillRect/>
          </a:stretch>
        </p:blipFill>
        <p:spPr>
          <a:xfrm>
            <a:off x="365760" y="1463040"/>
            <a:ext cx="8412481" cy="26707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K1 is 124 cycles per step against a budget of 128, found only after the full-shape test exposed 162</a:t>
            </a:r>
            <a:endParaRPr/>
          </a:p>
        </p:txBody>
      </p:sp>
      <p:sp>
        <p:nvSpPr>
          <p:cNvPr id="112" name="Google Shape;112;p19"/>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13" name="Google Shape;113;p19"/>
          <p:cNvGraphicFramePr/>
          <p:nvPr/>
        </p:nvGraphicFramePr>
        <p:xfrm>
          <a:off x="365760" y="1463040"/>
          <a:ext cx="3000000" cy="3000000"/>
        </p:xfrm>
        <a:graphic>
          <a:graphicData uri="http://schemas.openxmlformats.org/drawingml/2006/table">
            <a:tbl>
              <a:tblPr>
                <a:noFill/>
                <a:tableStyleId>{82F3850C-69AE-44F1-A2F3-003B56526B79}</a:tableStyleId>
              </a:tblPr>
              <a:tblGrid>
                <a:gridCol w="2362200"/>
                <a:gridCol w="1085850"/>
                <a:gridCol w="876300"/>
                <a:gridCol w="1219200"/>
                <a:gridCol w="2867025"/>
              </a:tblGrid>
              <a:tr h="485775">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Design point</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Cells (Yosys)</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Area</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K1 cycles/step</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Verdict</a:t>
                      </a:r>
                      <a:endParaRPr b="1" sz="1600">
                        <a:solidFill>
                          <a:srgbClr val="FFFFFF"/>
                        </a:solidFill>
                        <a:latin typeface="Roboto"/>
                        <a:ea typeface="Roboto"/>
                        <a:cs typeface="Roboto"/>
                        <a:sym typeface="Roboto"/>
                      </a:endParaRPr>
                    </a:p>
                  </a:txBody>
                  <a:tcPr marT="91425" marB="91425" marR="91425" marL="91425">
                    <a:solidFill>
                      <a:srgbClr val="1F4E79"/>
                    </a:solidFill>
                  </a:tcPr>
                </a:tc>
              </a:tr>
              <a:tr h="485775">
                <a:tc>
                  <a:txBody>
                    <a:bodyPr/>
                    <a:lstStyle/>
                    <a:p>
                      <a:pPr indent="0" lvl="0" marL="0" rtl="0" algn="l">
                        <a:spcBef>
                          <a:spcPts val="0"/>
                        </a:spcBef>
                        <a:spcAft>
                          <a:spcPts val="0"/>
                        </a:spcAft>
                        <a:buNone/>
                      </a:pPr>
                      <a:r>
                        <a:rPr lang="en" sz="1600">
                          <a:latin typeface="Roboto"/>
                          <a:ea typeface="Roboto"/>
                          <a:cs typeface="Roboto"/>
                          <a:sym typeface="Roboto"/>
                        </a:rPr>
                        <a:t>1-wide accumulate, 1-port RF</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393,367</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2.938 mm²</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162</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fails K1 ≤ 128</a:t>
                      </a:r>
                      <a:endParaRPr sz="1600">
                        <a:latin typeface="Roboto"/>
                        <a:ea typeface="Roboto"/>
                        <a:cs typeface="Roboto"/>
                        <a:sym typeface="Roboto"/>
                      </a:endParaRPr>
                    </a:p>
                  </a:txBody>
                  <a:tcPr marT="91425" marB="91425" marR="91425" marL="91425"/>
                </a:tc>
              </a:tr>
              <a:tr h="485775">
                <a:tc>
                  <a:txBody>
                    <a:bodyPr/>
                    <a:lstStyle/>
                    <a:p>
                      <a:pPr indent="0" lvl="0" marL="0" rtl="0" algn="l">
                        <a:spcBef>
                          <a:spcPts val="0"/>
                        </a:spcBef>
                        <a:spcAft>
                          <a:spcPts val="0"/>
                        </a:spcAft>
                        <a:buNone/>
                      </a:pPr>
                      <a:r>
                        <a:rPr lang="en" sz="1600">
                          <a:latin typeface="Roboto"/>
                          <a:ea typeface="Roboto"/>
                          <a:cs typeface="Roboto"/>
                          <a:sym typeface="Roboto"/>
                        </a:rPr>
                        <a:t>3-wide accumulate, 3-port RF</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584,454</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4.075 mm²</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124</a:t>
                      </a:r>
                      <a:endParaRPr sz="16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600">
                          <a:latin typeface="Roboto"/>
                          <a:ea typeface="Roboto"/>
                          <a:cs typeface="Roboto"/>
                          <a:sym typeface="Roboto"/>
                        </a:rPr>
                        <a:t>chosen: +38.7% area, −23.5% cycles</a:t>
                      </a:r>
                      <a:endParaRPr sz="1600">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Post-CTS timing gives 19.46 MHz against a 50 MHz target; the accumulate picker set the clock and a parallel-prefix rewrite bought 1.75x</a:t>
            </a:r>
            <a:endParaRPr/>
          </a:p>
        </p:txBody>
      </p:sp>
      <p:sp>
        <p:nvSpPr>
          <p:cNvPr id="119" name="Google Shape;119;p20"/>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20" name="Google Shape;120;p20"/>
          <p:cNvGraphicFramePr/>
          <p:nvPr/>
        </p:nvGraphicFramePr>
        <p:xfrm>
          <a:off x="365760" y="1463040"/>
          <a:ext cx="3000000" cy="3000000"/>
        </p:xfrm>
        <a:graphic>
          <a:graphicData uri="http://schemas.openxmlformats.org/drawingml/2006/table">
            <a:tbl>
              <a:tblPr>
                <a:noFill/>
                <a:tableStyleId>{82F3850C-69AE-44F1-A2F3-003B56526B79}</a:tableStyleId>
              </a:tblPr>
              <a:tblGrid>
                <a:gridCol w="2619375"/>
                <a:gridCol w="2466975"/>
                <a:gridCol w="3324225"/>
              </a:tblGrid>
              <a:tr h="257175">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Metric</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Value</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Evidence level</a:t>
                      </a:r>
                      <a:endParaRPr b="1" sz="1600">
                        <a:solidFill>
                          <a:srgbClr val="FFFFFF"/>
                        </a:solidFill>
                        <a:latin typeface="Roboto"/>
                        <a:ea typeface="Roboto"/>
                        <a:cs typeface="Roboto"/>
                        <a:sym typeface="Roboto"/>
                      </a:endParaRPr>
                    </a:p>
                  </a:txBody>
                  <a:tcPr marT="91425" marB="91425" marR="91425" marL="91425">
                    <a:solidFill>
                      <a:srgbClr val="1F4E79"/>
                    </a:solidFill>
                  </a:tcPr>
                </a:tc>
              </a:tr>
              <a:tr h="228600">
                <a:tc>
                  <a:txBody>
                    <a:bodyPr/>
                    <a:lstStyle/>
                    <a:p>
                      <a:pPr indent="0" lvl="0" marL="0" rtl="0" algn="l">
                        <a:spcBef>
                          <a:spcPts val="0"/>
                        </a:spcBef>
                        <a:spcAft>
                          <a:spcPts val="0"/>
                        </a:spcAft>
                        <a:buNone/>
                      </a:pPr>
                      <a:r>
                        <a:rPr lang="en">
                          <a:latin typeface="Roboto"/>
                          <a:ea typeface="Roboto"/>
                          <a:cs typeface="Roboto"/>
                          <a:sym typeface="Roboto"/>
                        </a:rPr>
                        <a:t>Cells / area, plain Yosys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584,454 / 4.075 mm²</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synthesis before the final picker rewrite</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Cells / area, OpenLane recipe, final RTL</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446,932 / 4.66 mm²</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different recipe, not comparable with the row above</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Fmax, post-CTS STA</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11.15 → 19.46 MHz (1.75x), bit-exact</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extrapolated from a 150 ns run with 98.6 ns slack</a:t>
                      </a:r>
                      <a:endParaRPr>
                        <a:latin typeface="Roboto"/>
                        <a:ea typeface="Roboto"/>
                        <a:cs typeface="Roboto"/>
                        <a:sym typeface="Roboto"/>
                      </a:endParaRPr>
                    </a:p>
                  </a:txBody>
                  <a:tcPr marT="91425" marB="91425" marR="91425" marL="91425"/>
                </a:tc>
              </a:tr>
              <a:tr h="228600">
                <a:tc>
                  <a:txBody>
                    <a:bodyPr/>
                    <a:lstStyle/>
                    <a:p>
                      <a:pPr indent="0" lvl="0" marL="0" rtl="0" algn="l">
                        <a:spcBef>
                          <a:spcPts val="0"/>
                        </a:spcBef>
                        <a:spcAft>
                          <a:spcPts val="0"/>
                        </a:spcAft>
                        <a:buNone/>
                      </a:pPr>
                      <a:r>
                        <a:rPr lang="en">
                          <a:latin typeface="Roboto"/>
                          <a:ea typeface="Roboto"/>
                          <a:cs typeface="Roboto"/>
                          <a:sym typeface="Roboto"/>
                        </a:rPr>
                        <a:t>Power</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 19.2 mW</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tool estimate, default activity, indicative only</a:t>
                      </a:r>
                      <a:endParaRPr>
                        <a:latin typeface="Roboto"/>
                        <a:ea typeface="Roboto"/>
                        <a:cs typeface="Roboto"/>
                        <a:sym typeface="Roboto"/>
                      </a:endParaRPr>
                    </a:p>
                  </a:txBody>
                  <a:tcPr marT="91425" marB="91425" marR="91425" marL="91425"/>
                </a:tc>
              </a:tr>
              <a:tr h="228600">
                <a:tc>
                  <a:txBody>
                    <a:bodyPr/>
                    <a:lstStyle/>
                    <a:p>
                      <a:pPr indent="0" lvl="0" marL="0" rtl="0" algn="l">
                        <a:spcBef>
                          <a:spcPts val="0"/>
                        </a:spcBef>
                        <a:spcAft>
                          <a:spcPts val="0"/>
                        </a:spcAft>
                        <a:buNone/>
                      </a:pPr>
                      <a:r>
                        <a:rPr lang="en">
                          <a:latin typeface="Roboto"/>
                          <a:ea typeface="Roboto"/>
                          <a:cs typeface="Roboto"/>
                          <a:sym typeface="Roboto"/>
                        </a:rPr>
                        <a:t>Clock target</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50 MHz, missed 2.6x</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next limiter: integrate-multiplier operand path</a:t>
                      </a:r>
                      <a:endParaRPr>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19.46 MHz grape ties optimized Python and is about 15x slower than Rust</a:t>
            </a:r>
            <a:endParaRPr/>
          </a:p>
        </p:txBody>
      </p:sp>
      <p:sp>
        <p:nvSpPr>
          <p:cNvPr id="126" name="Google Shape;126;p21"/>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27" name="Google Shape;127;p21"/>
          <p:cNvGraphicFramePr/>
          <p:nvPr/>
        </p:nvGraphicFramePr>
        <p:xfrm>
          <a:off x="365760" y="1463040"/>
          <a:ext cx="3000000" cy="3000000"/>
        </p:xfrm>
        <a:graphic>
          <a:graphicData uri="http://schemas.openxmlformats.org/drawingml/2006/table">
            <a:tbl>
              <a:tblPr>
                <a:noFill/>
                <a:tableStyleId>{82F3850C-69AE-44F1-A2F3-003B56526B79}</a:tableStyleId>
              </a:tblPr>
              <a:tblGrid>
                <a:gridCol w="1657350"/>
                <a:gridCol w="3952875"/>
                <a:gridCol w="1038225"/>
                <a:gridCol w="1771650"/>
              </a:tblGrid>
              <a:tr h="257175">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Tier</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Time / run</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vs original</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Evidence</a:t>
                      </a:r>
                      <a:endParaRPr b="1" sz="1600">
                        <a:solidFill>
                          <a:srgbClr val="FFFFFF"/>
                        </a:solidFill>
                        <a:latin typeface="Roboto"/>
                        <a:ea typeface="Roboto"/>
                        <a:cs typeface="Roboto"/>
                        <a:sym typeface="Roboto"/>
                      </a:endParaRPr>
                    </a:p>
                  </a:txBody>
                  <a:tcPr marT="91425" marB="91425" marR="91425" marL="91425">
                    <a:solidFill>
                      <a:srgbClr val="1F4E79"/>
                    </a:solidFill>
                  </a:tcPr>
                </a:tc>
              </a:tr>
              <a:tr h="228600">
                <a:tc>
                  <a:txBody>
                    <a:bodyPr/>
                    <a:lstStyle/>
                    <a:p>
                      <a:pPr indent="0" lvl="0" marL="0" rtl="0" algn="l">
                        <a:spcBef>
                          <a:spcPts val="0"/>
                        </a:spcBef>
                        <a:spcAft>
                          <a:spcPts val="0"/>
                        </a:spcAft>
                        <a:buNone/>
                      </a:pPr>
                      <a:r>
                        <a:rPr lang="en">
                          <a:latin typeface="Roboto"/>
                          <a:ea typeface="Roboto"/>
                          <a:cs typeface="Roboto"/>
                          <a:sym typeface="Roboto"/>
                        </a:rPr>
                        <a:t>Original Python</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231.20 ms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1.00x</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measured, course VM</a:t>
                      </a:r>
                      <a:endParaRPr>
                        <a:latin typeface="Roboto"/>
                        <a:ea typeface="Roboto"/>
                        <a:cs typeface="Roboto"/>
                        <a:sym typeface="Roboto"/>
                      </a:endParaRPr>
                    </a:p>
                  </a:txBody>
                  <a:tcPr marT="91425" marB="91425" marR="91425" marL="91425"/>
                </a:tc>
              </a:tr>
              <a:tr h="228600">
                <a:tc>
                  <a:txBody>
                    <a:bodyPr/>
                    <a:lstStyle/>
                    <a:p>
                      <a:pPr indent="0" lvl="0" marL="0" rtl="0" algn="l">
                        <a:spcBef>
                          <a:spcPts val="0"/>
                        </a:spcBef>
                        <a:spcAft>
                          <a:spcPts val="0"/>
                        </a:spcAft>
                        <a:buNone/>
                      </a:pPr>
                      <a:r>
                        <a:rPr lang="en">
                          <a:latin typeface="Roboto"/>
                          <a:ea typeface="Roboto"/>
                          <a:cs typeface="Roboto"/>
                          <a:sym typeface="Roboto"/>
                        </a:rPr>
                        <a:t>Optimized Python</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143.13 ms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1.62x</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measured, course VM</a:t>
                      </a:r>
                      <a:endParaRPr>
                        <a:latin typeface="Roboto"/>
                        <a:ea typeface="Roboto"/>
                        <a:cs typeface="Roboto"/>
                        <a:sym typeface="Roboto"/>
                      </a:endParaRPr>
                    </a:p>
                  </a:txBody>
                  <a:tcPr marT="91425" marB="91425" marR="91425" marL="91425"/>
                </a:tc>
              </a:tr>
              <a:tr h="228600">
                <a:tc>
                  <a:txBody>
                    <a:bodyPr/>
                    <a:lstStyle/>
                    <a:p>
                      <a:pPr indent="0" lvl="0" marL="0" rtl="0" algn="l">
                        <a:spcBef>
                          <a:spcPts val="0"/>
                        </a:spcBef>
                        <a:spcAft>
                          <a:spcPts val="0"/>
                        </a:spcAft>
                        <a:buNone/>
                      </a:pPr>
                      <a:r>
                        <a:rPr lang="en">
                          <a:latin typeface="Roboto"/>
                          <a:ea typeface="Roboto"/>
                          <a:cs typeface="Roboto"/>
                          <a:sym typeface="Roboto"/>
                        </a:rPr>
                        <a:t>grape @ 19.46 MHz</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 139 ms = 127.4 ms compute + 11.6 ms residual</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 1.66x</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projected</a:t>
                      </a:r>
                      <a:endParaRPr>
                        <a:latin typeface="Roboto"/>
                        <a:ea typeface="Roboto"/>
                        <a:cs typeface="Roboto"/>
                        <a:sym typeface="Roboto"/>
                      </a:endParaRPr>
                    </a:p>
                  </a:txBody>
                  <a:tcPr marT="91425" marB="91425" marR="91425" marL="91425"/>
                </a:tc>
              </a:tr>
              <a:tr h="228600">
                <a:tc>
                  <a:txBody>
                    <a:bodyPr/>
                    <a:lstStyle/>
                    <a:p>
                      <a:pPr indent="0" lvl="0" marL="0" rtl="0" algn="l">
                        <a:spcBef>
                          <a:spcPts val="0"/>
                        </a:spcBef>
                        <a:spcAft>
                          <a:spcPts val="0"/>
                        </a:spcAft>
                        <a:buNone/>
                      </a:pPr>
                      <a:r>
                        <a:rPr lang="en">
                          <a:latin typeface="Roboto"/>
                          <a:ea typeface="Roboto"/>
                          <a:cs typeface="Roboto"/>
                          <a:sym typeface="Roboto"/>
                        </a:rPr>
                        <a:t>Native Rust</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9.530 ms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24.26x</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measured, course VM</a:t>
                      </a:r>
                      <a:endParaRPr>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65760" y="228600"/>
            <a:ext cx="8412600" cy="109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would beat Rust: the clock it takes, a wider unit mix, and a Rust host around the same hardware</a:t>
            </a:r>
            <a:endParaRPr/>
          </a:p>
        </p:txBody>
      </p:sp>
      <p:sp>
        <p:nvSpPr>
          <p:cNvPr id="133" name="Google Shape;133;p22"/>
          <p:cNvSpPr txBox="1"/>
          <p:nvPr>
            <p:ph idx="12" type="sldNum"/>
          </p:nvPr>
        </p:nvSpPr>
        <p:spPr>
          <a:xfrm>
            <a:off x="7863840" y="4773168"/>
            <a:ext cx="914400" cy="365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34" name="Google Shape;134;p22"/>
          <p:cNvGraphicFramePr/>
          <p:nvPr/>
        </p:nvGraphicFramePr>
        <p:xfrm>
          <a:off x="365760" y="1463040"/>
          <a:ext cx="3000000" cy="3000000"/>
        </p:xfrm>
        <a:graphic>
          <a:graphicData uri="http://schemas.openxmlformats.org/drawingml/2006/table">
            <a:tbl>
              <a:tblPr>
                <a:noFill/>
                <a:tableStyleId>{82F3850C-69AE-44F1-A2F3-003B56526B79}</a:tableStyleId>
              </a:tblPr>
              <a:tblGrid>
                <a:gridCol w="2600325"/>
                <a:gridCol w="2705100"/>
                <a:gridCol w="1047750"/>
                <a:gridCol w="2066925"/>
              </a:tblGrid>
              <a:tr h="485775">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Projection (not a measurement)</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Compute time</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vs Rust 9.530 ms</a:t>
                      </a:r>
                      <a:endParaRPr b="1" sz="1600">
                        <a:solidFill>
                          <a:srgbClr val="FFFFFF"/>
                        </a:solidFill>
                        <a:latin typeface="Roboto"/>
                        <a:ea typeface="Roboto"/>
                        <a:cs typeface="Roboto"/>
                        <a:sym typeface="Roboto"/>
                      </a:endParaRPr>
                    </a:p>
                  </a:txBody>
                  <a:tcPr marT="91425" marB="91425" marR="91425" marL="91425">
                    <a:solidFill>
                      <a:srgbClr val="1F4E79"/>
                    </a:solidFill>
                  </a:tcPr>
                </a:tc>
                <a:tc>
                  <a:txBody>
                    <a:bodyPr/>
                    <a:lstStyle/>
                    <a:p>
                      <a:pPr indent="0" lvl="0" marL="0" rtl="0" algn="l">
                        <a:spcBef>
                          <a:spcPts val="0"/>
                        </a:spcBef>
                        <a:spcAft>
                          <a:spcPts val="0"/>
                        </a:spcAft>
                        <a:buNone/>
                      </a:pPr>
                      <a:r>
                        <a:rPr b="1" lang="en" sz="1600">
                          <a:solidFill>
                            <a:srgbClr val="FFFFFF"/>
                          </a:solidFill>
                          <a:latin typeface="Roboto"/>
                          <a:ea typeface="Roboto"/>
                          <a:cs typeface="Roboto"/>
                          <a:sym typeface="Roboto"/>
                        </a:rPr>
                        <a:t>What it assumes</a:t>
                      </a:r>
                      <a:endParaRPr b="1" sz="1600">
                        <a:solidFill>
                          <a:srgbClr val="FFFFFF"/>
                        </a:solidFill>
                        <a:latin typeface="Roboto"/>
                        <a:ea typeface="Roboto"/>
                        <a:cs typeface="Roboto"/>
                        <a:sym typeface="Roboto"/>
                      </a:endParaRPr>
                    </a:p>
                  </a:txBody>
                  <a:tcPr marT="91425" marB="91425" marR="91425" marL="91425">
                    <a:solidFill>
                      <a:srgbClr val="1F4E79"/>
                    </a:solidFill>
                  </a:tcPr>
                </a:tc>
              </a:tr>
              <a:tr h="428625">
                <a:tc>
                  <a:txBody>
                    <a:bodyPr/>
                    <a:lstStyle/>
                    <a:p>
                      <a:pPr indent="0" lvl="0" marL="0" rtl="0" algn="l">
                        <a:spcBef>
                          <a:spcPts val="0"/>
                        </a:spcBef>
                        <a:spcAft>
                          <a:spcPts val="0"/>
                        </a:spcAft>
                        <a:buNone/>
                      </a:pPr>
                      <a:r>
                        <a:rPr lang="en">
                          <a:latin typeface="Roboto"/>
                          <a:ea typeface="Roboto"/>
                          <a:cs typeface="Roboto"/>
                          <a:sym typeface="Roboto"/>
                        </a:rPr>
                        <a:t>Clock at which grape compute alone matches Rust</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2.48 Mcycles / 9.530 ms ≈ 260 MHz</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parity</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13.4x the post-CTS clock; zero residual</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grape at the 50 MHz target</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49.6 ms (+11.6 ms residual = 61.16 ms, 3.78x vs original)</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6.42x slower</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timing closure we did not reach</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3 add + 4 mul, schedule model</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117 cycles/step → 120.2 ms at 19.46 MHz</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12.6x slower</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model only; needs 245 MHz for parity</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Rust host + same hardware at 19.46 MHz</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127.4 + 0.48 ms = 127.9 ms</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13.4x slower</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residual scales to 5% of the Rust run</a:t>
                      </a:r>
                      <a:endParaRPr>
                        <a:latin typeface="Roboto"/>
                        <a:ea typeface="Roboto"/>
                        <a:cs typeface="Roboto"/>
                        <a:sym typeface="Roboto"/>
                      </a:endParaRPr>
                    </a:p>
                  </a:txBody>
                  <a:tcPr marT="91425" marB="91425" marR="91425" marL="91425"/>
                </a:tc>
              </a:tr>
              <a:tr h="428625">
                <a:tc>
                  <a:txBody>
                    <a:bodyPr/>
                    <a:lstStyle/>
                    <a:p>
                      <a:pPr indent="0" lvl="0" marL="0" rtl="0" algn="l">
                        <a:spcBef>
                          <a:spcPts val="0"/>
                        </a:spcBef>
                        <a:spcAft>
                          <a:spcPts val="0"/>
                        </a:spcAft>
                        <a:buNone/>
                      </a:pPr>
                      <a:r>
                        <a:rPr lang="en">
                          <a:latin typeface="Roboto"/>
                          <a:ea typeface="Roboto"/>
                          <a:cs typeface="Roboto"/>
                          <a:sym typeface="Roboto"/>
                        </a:rPr>
                        <a:t>N = 100 with 24 add + 24 mul + 2 sqrt + 2 rcp</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0.029 µs/pair at 19.46 MHz</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1.6x faster</a:t>
                      </a:r>
                      <a:endParaRPr>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a:latin typeface="Roboto"/>
                          <a:ea typeface="Roboto"/>
                          <a:cs typeface="Roboto"/>
                          <a:sym typeface="Roboto"/>
                        </a:rPr>
                        <a:t>clock survives 8x wider issue; SRAM state</a:t>
                      </a:r>
                      <a:endParaRPr>
                        <a:latin typeface="Roboto"/>
                        <a:ea typeface="Roboto"/>
                        <a:cs typeface="Roboto"/>
                        <a:sym typeface="Roboto"/>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
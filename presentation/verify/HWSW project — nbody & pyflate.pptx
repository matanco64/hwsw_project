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6" r:id="rId5"/>
  </p:sldMasterIdLst>
  <p:notesMasterIdLst>
    <p:notesMasterId r:id="rId6"/>
  </p:notesMasterIdLst>
  <p:sldIdLst>
    <p:sldId id="256" r:id="rId7"/>
    <p:sldId id="257" r:id="rId8"/>
    <p:sldId id="258" r:id="rId9"/>
    <p:sldId id="259" r:id="rId10"/>
    <p:sldId id="260" r:id="rId11"/>
  </p:sldIdLst>
  <p:sldSz cy="5143500" cx="9144000"/>
  <p:notesSz cx="6858000" cy="9144000"/>
  <p:embeddedFontLst>
    <p:embeddedFont>
      <p:font typeface="Roboto"/>
      <p:regular r:id="rId12"/>
      <p:bold r:id="rId13"/>
      <p:italic r:id="rId14"/>
      <p:boldItalic r:id="rId1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F7225B2-891F-4798-87D7-A03E2F8B8764}">
  <a:tblStyle styleId="{AF7225B2-891F-4798-87D7-A03E2F8B876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font" Target="fonts/Roboto-bold.fntdata"/><Relationship Id="rId12" Type="http://schemas.openxmlformats.org/officeDocument/2006/relationships/font" Target="fonts/Roboto-regular.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font" Target="fonts/Roboto-boldItalic.fntdata"/><Relationship Id="rId14" Type="http://schemas.openxmlformats.org/officeDocument/2006/relationships/font" Target="fonts/Roboto-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46" name="Google Shape;46;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Title slide, shown while the staff settle. Matan opens. No ID numbers anywhere on the deck; names as they appear on the reports.</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h53cb298650771a08_2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 name="Google Shape;53;h53cb298650771a08_2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Both workloads ship in pyperformance and are pure Python: nbody integrates five bodies for 20,000 steps, pyflate decompresses a 67,562-byte bzip2 file into 399,360 bytes. The course question is where the time goes and what it would take to move that work into hardware. This table is the whole software result, measured on the course VM with 120 pyperf values per configuration, pinned to one guest CPU. Two routes produced it, with different denominators. Original versus optimized ran through pyperformance: 231.20 to 143.13 ms for nbody, 1.62x, and 1,123.49 to 281.16 ms for pyflate, 4.00x. The Rust tiers ran under direct pyperf against the same file's Python back end, so nbody's kernel ratio of 15.25x sits on a 145.30 ms denominator; against the original it is 24.26x. pyflate's Rust decoder reaches 170.01 ms, 6.61x. Every later slide names its denominator.</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h53cb298650771a08_2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h53cb298650771a08_2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state is the Sun and four gas giants: 35 Python floats in nested lists, a position, a velocity and a mass per body. pairs is a list of ten tuples aliasing those same lists, built once. One timed iteration evaluates the energy, calls advance(0.01, 20000), and evaluates the energy again. Every step visits the same ten pairs, forms dx, dy and dz, computes mag = dt * (dsq ** -1.5) and updates both bodies' velocities in place. Ten pairs times 20,000 steps is 200,000 pair-force evaluations, and between every one of them sits the interpreter. The physics is compact; the machinery around each calculation is what we go looking for.</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h53cb298650771a08_2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h53cb298650771a08_2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Two profilers, two views. py-spy on release CPython puts 97.7% of 310 samples in advance(); everything else is start-up and imports. perf at 999 Hz on the debug build shows what the interpreter does inside it: one tower under _PyEval_EvalFrameDefault at 99.31% inclusive, with binary_op1, the generic arithmetic dispatch, at 20.07%, float object handling at 16.25% of self time and list access and index conversion at 11.26%. There is no second hotspot. The list traffic is the part pure Python can remove: the per-pair unpacking and the read-modify-write of each velocity list. The float boxing it cannot remove, because every operation still allocates a Python float. Debug-build percentages locate the costs; release-build timing establishes the benefit.</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h53cb298650771a08_2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h53cb298650771a08_2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At import time we emit an advance() with the pair loop unrolled, coordinates in locals and masses as literals; state is loaded before the step loop and written back afterwards, so energy still observes the original body objects. The arithmetic is untouched: mag = dt * (dsq ** -1.5) in the same order, so final state and energy compare exactly equal after 20,000 steps, not merely within a tolerance. Under pyperformance the run goes from 231.20 ± 7.85 to 143.13 ± 1.56 ms, 1.62x, 38.1% less time; the 88.1 ms reduction is about 70 times the clustered standard error. The optimized profile confirms the mechanism: list access and index conversion fall from 11.26% to 0.06% of self time, float handling does not fall, and advance() still holds 91.4% of 210 samples. That residue is what the native tier removes.</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65760" y="228600"/>
            <a:ext cx="8412600" cy="1005900"/>
          </a:xfrm>
          <a:prstGeom prst="rect">
            <a:avLst/>
          </a:prstGeom>
        </p:spPr>
        <p:txBody>
          <a:bodyPr anchorCtr="0" anchor="ctr" bIns="91425" lIns="91425" spcFirstLastPara="1" rIns="91425" wrap="square" tIns="91425">
            <a:noAutofit/>
          </a:bodyPr>
          <a:lstStyle>
            <a:lvl1pPr lvl="0">
              <a:spcBef>
                <a:spcPts val="0"/>
              </a:spcBef>
              <a:spcAft>
                <a:spcPts val="0"/>
              </a:spcAft>
              <a:buClr>
                <a:srgbClr val="222222"/>
              </a:buClr>
              <a:buSzPts val="2600"/>
              <a:buNone/>
              <a:defRPr sz="2600">
                <a:solidFill>
                  <a:srgbClr val="222222"/>
                </a:solidFill>
              </a:defRPr>
            </a:lvl1pPr>
            <a:lvl2pPr lvl="1">
              <a:spcBef>
                <a:spcPts val="0"/>
              </a:spcBef>
              <a:spcAft>
                <a:spcPts val="0"/>
              </a:spcAft>
              <a:buClr>
                <a:srgbClr val="222222"/>
              </a:buClr>
              <a:buSzPts val="2600"/>
              <a:buNone/>
              <a:defRPr sz="2600">
                <a:solidFill>
                  <a:srgbClr val="222222"/>
                </a:solidFill>
              </a:defRPr>
            </a:lvl2pPr>
            <a:lvl3pPr lvl="2">
              <a:spcBef>
                <a:spcPts val="0"/>
              </a:spcBef>
              <a:spcAft>
                <a:spcPts val="0"/>
              </a:spcAft>
              <a:buClr>
                <a:srgbClr val="222222"/>
              </a:buClr>
              <a:buSzPts val="2600"/>
              <a:buNone/>
              <a:defRPr sz="2600">
                <a:solidFill>
                  <a:srgbClr val="222222"/>
                </a:solidFill>
              </a:defRPr>
            </a:lvl3pPr>
            <a:lvl4pPr lvl="3">
              <a:spcBef>
                <a:spcPts val="0"/>
              </a:spcBef>
              <a:spcAft>
                <a:spcPts val="0"/>
              </a:spcAft>
              <a:buClr>
                <a:srgbClr val="222222"/>
              </a:buClr>
              <a:buSzPts val="2600"/>
              <a:buNone/>
              <a:defRPr sz="2600">
                <a:solidFill>
                  <a:srgbClr val="222222"/>
                </a:solidFill>
              </a:defRPr>
            </a:lvl4pPr>
            <a:lvl5pPr lvl="4">
              <a:spcBef>
                <a:spcPts val="0"/>
              </a:spcBef>
              <a:spcAft>
                <a:spcPts val="0"/>
              </a:spcAft>
              <a:buClr>
                <a:srgbClr val="222222"/>
              </a:buClr>
              <a:buSzPts val="2600"/>
              <a:buNone/>
              <a:defRPr sz="2600">
                <a:solidFill>
                  <a:srgbClr val="222222"/>
                </a:solidFill>
              </a:defRPr>
            </a:lvl5pPr>
            <a:lvl6pPr lvl="5">
              <a:spcBef>
                <a:spcPts val="0"/>
              </a:spcBef>
              <a:spcAft>
                <a:spcPts val="0"/>
              </a:spcAft>
              <a:buClr>
                <a:srgbClr val="222222"/>
              </a:buClr>
              <a:buSzPts val="2600"/>
              <a:buNone/>
              <a:defRPr sz="2600">
                <a:solidFill>
                  <a:srgbClr val="222222"/>
                </a:solidFill>
              </a:defRPr>
            </a:lvl6pPr>
            <a:lvl7pPr lvl="6">
              <a:spcBef>
                <a:spcPts val="0"/>
              </a:spcBef>
              <a:spcAft>
                <a:spcPts val="0"/>
              </a:spcAft>
              <a:buClr>
                <a:srgbClr val="222222"/>
              </a:buClr>
              <a:buSzPts val="2600"/>
              <a:buNone/>
              <a:defRPr sz="2600">
                <a:solidFill>
                  <a:srgbClr val="222222"/>
                </a:solidFill>
              </a:defRPr>
            </a:lvl7pPr>
            <a:lvl8pPr lvl="7">
              <a:spcBef>
                <a:spcPts val="0"/>
              </a:spcBef>
              <a:spcAft>
                <a:spcPts val="0"/>
              </a:spcAft>
              <a:buClr>
                <a:srgbClr val="222222"/>
              </a:buClr>
              <a:buSzPts val="2600"/>
              <a:buNone/>
              <a:defRPr sz="2600">
                <a:solidFill>
                  <a:srgbClr val="222222"/>
                </a:solidFill>
              </a:defRPr>
            </a:lvl8pPr>
            <a:lvl9pPr lvl="8">
              <a:spcBef>
                <a:spcPts val="0"/>
              </a:spcBef>
              <a:spcAft>
                <a:spcPts val="0"/>
              </a:spcAft>
              <a:buClr>
                <a:srgbClr val="222222"/>
              </a:buClr>
              <a:buSzPts val="2600"/>
              <a:buNone/>
              <a:defRPr sz="2600">
                <a:solidFill>
                  <a:srgbClr val="222222"/>
                </a:solidFill>
              </a:defRPr>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6" name="Google Shape;16;p3"/>
          <p:cNvSpPr txBox="1"/>
          <p:nvPr/>
        </p:nvSpPr>
        <p:spPr>
          <a:xfrm>
            <a:off x="365760" y="4599432"/>
            <a:ext cx="8412600" cy="274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rgbClr val="888888"/>
                </a:solidFill>
                <a:latin typeface="Roboto"/>
                <a:ea typeface="Roboto"/>
                <a:cs typeface="Roboto"/>
                <a:sym typeface="Roboto"/>
              </a:rPr>
              <a:t>Analyze   ·   Profile   ·   Optimize   ·   Accelerate   ·   Trade-offs</a:t>
            </a:r>
            <a:endParaRPr sz="1000">
              <a:solidFill>
                <a:srgbClr val="888888"/>
              </a:solidFill>
              <a:latin typeface="Roboto"/>
              <a:ea typeface="Roboto"/>
              <a:cs typeface="Roboto"/>
              <a:sym typeface="Roboto"/>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Trade-offs">
  <p:cSld name="TITLE_AND_BODY_5">
    <p:spTree>
      <p:nvGrpSpPr>
        <p:cNvPr id="17" name="Shape 17"/>
        <p:cNvGrpSpPr/>
        <p:nvPr/>
      </p:nvGrpSpPr>
      <p:grpSpPr>
        <a:xfrm>
          <a:off x="0" y="0"/>
          <a:ext cx="0" cy="0"/>
          <a:chOff x="0" y="0"/>
          <a:chExt cx="0" cy="0"/>
        </a:xfrm>
      </p:grpSpPr>
      <p:sp>
        <p:nvSpPr>
          <p:cNvPr id="18" name="Google Shape;18;p4"/>
          <p:cNvSpPr txBox="1"/>
          <p:nvPr>
            <p:ph type="title"/>
          </p:nvPr>
        </p:nvSpPr>
        <p:spPr>
          <a:xfrm>
            <a:off x="365760" y="228600"/>
            <a:ext cx="8412600" cy="1005900"/>
          </a:xfrm>
          <a:prstGeom prst="rect">
            <a:avLst/>
          </a:prstGeom>
        </p:spPr>
        <p:txBody>
          <a:bodyPr anchorCtr="0" anchor="t" bIns="91425" lIns="91425" spcFirstLastPara="1" rIns="91425" wrap="square" tIns="91425">
            <a:noAutofit/>
          </a:bodyPr>
          <a:lstStyle>
            <a:lvl1pPr lvl="0">
              <a:spcBef>
                <a:spcPts val="0"/>
              </a:spcBef>
              <a:spcAft>
                <a:spcPts val="0"/>
              </a:spcAft>
              <a:buClr>
                <a:srgbClr val="222222"/>
              </a:buClr>
              <a:buSzPts val="2600"/>
              <a:buNone/>
              <a:defRPr sz="2600">
                <a:solidFill>
                  <a:srgbClr val="222222"/>
                </a:solidFill>
              </a:defRPr>
            </a:lvl1pPr>
            <a:lvl2pPr lvl="1">
              <a:spcBef>
                <a:spcPts val="0"/>
              </a:spcBef>
              <a:spcAft>
                <a:spcPts val="0"/>
              </a:spcAft>
              <a:buClr>
                <a:srgbClr val="222222"/>
              </a:buClr>
              <a:buSzPts val="2600"/>
              <a:buNone/>
              <a:defRPr sz="2600">
                <a:solidFill>
                  <a:srgbClr val="222222"/>
                </a:solidFill>
              </a:defRPr>
            </a:lvl2pPr>
            <a:lvl3pPr lvl="2">
              <a:spcBef>
                <a:spcPts val="0"/>
              </a:spcBef>
              <a:spcAft>
                <a:spcPts val="0"/>
              </a:spcAft>
              <a:buClr>
                <a:srgbClr val="222222"/>
              </a:buClr>
              <a:buSzPts val="2600"/>
              <a:buNone/>
              <a:defRPr sz="2600">
                <a:solidFill>
                  <a:srgbClr val="222222"/>
                </a:solidFill>
              </a:defRPr>
            </a:lvl3pPr>
            <a:lvl4pPr lvl="3">
              <a:spcBef>
                <a:spcPts val="0"/>
              </a:spcBef>
              <a:spcAft>
                <a:spcPts val="0"/>
              </a:spcAft>
              <a:buClr>
                <a:srgbClr val="222222"/>
              </a:buClr>
              <a:buSzPts val="2600"/>
              <a:buNone/>
              <a:defRPr sz="2600">
                <a:solidFill>
                  <a:srgbClr val="222222"/>
                </a:solidFill>
              </a:defRPr>
            </a:lvl4pPr>
            <a:lvl5pPr lvl="4">
              <a:spcBef>
                <a:spcPts val="0"/>
              </a:spcBef>
              <a:spcAft>
                <a:spcPts val="0"/>
              </a:spcAft>
              <a:buClr>
                <a:srgbClr val="222222"/>
              </a:buClr>
              <a:buSzPts val="2600"/>
              <a:buNone/>
              <a:defRPr sz="2600">
                <a:solidFill>
                  <a:srgbClr val="222222"/>
                </a:solidFill>
              </a:defRPr>
            </a:lvl5pPr>
            <a:lvl6pPr lvl="5">
              <a:spcBef>
                <a:spcPts val="0"/>
              </a:spcBef>
              <a:spcAft>
                <a:spcPts val="0"/>
              </a:spcAft>
              <a:buClr>
                <a:srgbClr val="222222"/>
              </a:buClr>
              <a:buSzPts val="2600"/>
              <a:buNone/>
              <a:defRPr sz="2600">
                <a:solidFill>
                  <a:srgbClr val="222222"/>
                </a:solidFill>
              </a:defRPr>
            </a:lvl6pPr>
            <a:lvl7pPr lvl="6">
              <a:spcBef>
                <a:spcPts val="0"/>
              </a:spcBef>
              <a:spcAft>
                <a:spcPts val="0"/>
              </a:spcAft>
              <a:buClr>
                <a:srgbClr val="222222"/>
              </a:buClr>
              <a:buSzPts val="2600"/>
              <a:buNone/>
              <a:defRPr sz="2600">
                <a:solidFill>
                  <a:srgbClr val="222222"/>
                </a:solidFill>
              </a:defRPr>
            </a:lvl7pPr>
            <a:lvl8pPr lvl="7">
              <a:spcBef>
                <a:spcPts val="0"/>
              </a:spcBef>
              <a:spcAft>
                <a:spcPts val="0"/>
              </a:spcAft>
              <a:buClr>
                <a:srgbClr val="222222"/>
              </a:buClr>
              <a:buSzPts val="2600"/>
              <a:buNone/>
              <a:defRPr sz="2600">
                <a:solidFill>
                  <a:srgbClr val="222222"/>
                </a:solidFill>
              </a:defRPr>
            </a:lvl8pPr>
            <a:lvl9pPr lvl="8">
              <a:spcBef>
                <a:spcPts val="0"/>
              </a:spcBef>
              <a:spcAft>
                <a:spcPts val="0"/>
              </a:spcAft>
              <a:buClr>
                <a:srgbClr val="222222"/>
              </a:buClr>
              <a:buSzPts val="2600"/>
              <a:buNone/>
              <a:defRPr sz="2600">
                <a:solidFill>
                  <a:srgbClr val="222222"/>
                </a:solidFill>
              </a:defRPr>
            </a:lvl9pPr>
          </a:lstStyle>
          <a:p/>
        </p:txBody>
      </p:sp>
      <p:sp>
        <p:nvSpPr>
          <p:cNvPr id="19" name="Google Shape;19;p4"/>
          <p:cNvSpPr txBox="1"/>
          <p:nvPr>
            <p:ph idx="1" type="body"/>
          </p:nvPr>
        </p:nvSpPr>
        <p:spPr>
          <a:xfrm>
            <a:off x="365760" y="1371600"/>
            <a:ext cx="8412600" cy="3200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0" name="Google Shape;20;p4"/>
          <p:cNvSpPr txBox="1"/>
          <p:nvPr>
            <p:ph idx="12" type="sldNum"/>
          </p:nvPr>
        </p:nvSpPr>
        <p:spPr>
          <a:xfrm>
            <a:off x="7863840" y="4773168"/>
            <a:ext cx="914400" cy="365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1" name="Google Shape;21;p4"/>
          <p:cNvSpPr txBox="1"/>
          <p:nvPr/>
        </p:nvSpPr>
        <p:spPr>
          <a:xfrm>
            <a:off x="365760" y="4599432"/>
            <a:ext cx="8412600" cy="274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rgbClr val="888888"/>
                </a:solidFill>
                <a:latin typeface="Roboto"/>
                <a:ea typeface="Roboto"/>
                <a:cs typeface="Roboto"/>
                <a:sym typeface="Roboto"/>
              </a:rPr>
              <a:t>Analyze   ·   Profile   ·   Optimize   ·   Accelerate   ·   </a:t>
            </a:r>
            <a:r>
              <a:rPr b="1" lang="en" sz="1000">
                <a:solidFill>
                  <a:srgbClr val="1F4E79"/>
                </a:solidFill>
                <a:latin typeface="Roboto"/>
                <a:ea typeface="Roboto"/>
                <a:cs typeface="Roboto"/>
                <a:sym typeface="Roboto"/>
              </a:rPr>
              <a:t>Trade-offs</a:t>
            </a:r>
            <a:endParaRPr b="1" sz="1000">
              <a:solidFill>
                <a:srgbClr val="1F4E79"/>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ccelerate">
  <p:cSld name="TITLE_AND_BODY_4">
    <p:spTree>
      <p:nvGrpSpPr>
        <p:cNvPr id="22" name="Shape 22"/>
        <p:cNvGrpSpPr/>
        <p:nvPr/>
      </p:nvGrpSpPr>
      <p:grpSpPr>
        <a:xfrm>
          <a:off x="0" y="0"/>
          <a:ext cx="0" cy="0"/>
          <a:chOff x="0" y="0"/>
          <a:chExt cx="0" cy="0"/>
        </a:xfrm>
      </p:grpSpPr>
      <p:sp>
        <p:nvSpPr>
          <p:cNvPr id="23" name="Google Shape;23;p5"/>
          <p:cNvSpPr txBox="1"/>
          <p:nvPr>
            <p:ph type="title"/>
          </p:nvPr>
        </p:nvSpPr>
        <p:spPr>
          <a:xfrm>
            <a:off x="365760" y="228600"/>
            <a:ext cx="8412600" cy="1005900"/>
          </a:xfrm>
          <a:prstGeom prst="rect">
            <a:avLst/>
          </a:prstGeom>
        </p:spPr>
        <p:txBody>
          <a:bodyPr anchorCtr="0" anchor="t" bIns="91425" lIns="91425" spcFirstLastPara="1" rIns="91425" wrap="square" tIns="91425">
            <a:noAutofit/>
          </a:bodyPr>
          <a:lstStyle>
            <a:lvl1pPr lvl="0">
              <a:spcBef>
                <a:spcPts val="0"/>
              </a:spcBef>
              <a:spcAft>
                <a:spcPts val="0"/>
              </a:spcAft>
              <a:buClr>
                <a:srgbClr val="222222"/>
              </a:buClr>
              <a:buSzPts val="2600"/>
              <a:buNone/>
              <a:defRPr sz="2600">
                <a:solidFill>
                  <a:srgbClr val="222222"/>
                </a:solidFill>
              </a:defRPr>
            </a:lvl1pPr>
            <a:lvl2pPr lvl="1">
              <a:spcBef>
                <a:spcPts val="0"/>
              </a:spcBef>
              <a:spcAft>
                <a:spcPts val="0"/>
              </a:spcAft>
              <a:buClr>
                <a:srgbClr val="222222"/>
              </a:buClr>
              <a:buSzPts val="2600"/>
              <a:buNone/>
              <a:defRPr sz="2600">
                <a:solidFill>
                  <a:srgbClr val="222222"/>
                </a:solidFill>
              </a:defRPr>
            </a:lvl2pPr>
            <a:lvl3pPr lvl="2">
              <a:spcBef>
                <a:spcPts val="0"/>
              </a:spcBef>
              <a:spcAft>
                <a:spcPts val="0"/>
              </a:spcAft>
              <a:buClr>
                <a:srgbClr val="222222"/>
              </a:buClr>
              <a:buSzPts val="2600"/>
              <a:buNone/>
              <a:defRPr sz="2600">
                <a:solidFill>
                  <a:srgbClr val="222222"/>
                </a:solidFill>
              </a:defRPr>
            </a:lvl3pPr>
            <a:lvl4pPr lvl="3">
              <a:spcBef>
                <a:spcPts val="0"/>
              </a:spcBef>
              <a:spcAft>
                <a:spcPts val="0"/>
              </a:spcAft>
              <a:buClr>
                <a:srgbClr val="222222"/>
              </a:buClr>
              <a:buSzPts val="2600"/>
              <a:buNone/>
              <a:defRPr sz="2600">
                <a:solidFill>
                  <a:srgbClr val="222222"/>
                </a:solidFill>
              </a:defRPr>
            </a:lvl4pPr>
            <a:lvl5pPr lvl="4">
              <a:spcBef>
                <a:spcPts val="0"/>
              </a:spcBef>
              <a:spcAft>
                <a:spcPts val="0"/>
              </a:spcAft>
              <a:buClr>
                <a:srgbClr val="222222"/>
              </a:buClr>
              <a:buSzPts val="2600"/>
              <a:buNone/>
              <a:defRPr sz="2600">
                <a:solidFill>
                  <a:srgbClr val="222222"/>
                </a:solidFill>
              </a:defRPr>
            </a:lvl5pPr>
            <a:lvl6pPr lvl="5">
              <a:spcBef>
                <a:spcPts val="0"/>
              </a:spcBef>
              <a:spcAft>
                <a:spcPts val="0"/>
              </a:spcAft>
              <a:buClr>
                <a:srgbClr val="222222"/>
              </a:buClr>
              <a:buSzPts val="2600"/>
              <a:buNone/>
              <a:defRPr sz="2600">
                <a:solidFill>
                  <a:srgbClr val="222222"/>
                </a:solidFill>
              </a:defRPr>
            </a:lvl6pPr>
            <a:lvl7pPr lvl="6">
              <a:spcBef>
                <a:spcPts val="0"/>
              </a:spcBef>
              <a:spcAft>
                <a:spcPts val="0"/>
              </a:spcAft>
              <a:buClr>
                <a:srgbClr val="222222"/>
              </a:buClr>
              <a:buSzPts val="2600"/>
              <a:buNone/>
              <a:defRPr sz="2600">
                <a:solidFill>
                  <a:srgbClr val="222222"/>
                </a:solidFill>
              </a:defRPr>
            </a:lvl7pPr>
            <a:lvl8pPr lvl="7">
              <a:spcBef>
                <a:spcPts val="0"/>
              </a:spcBef>
              <a:spcAft>
                <a:spcPts val="0"/>
              </a:spcAft>
              <a:buClr>
                <a:srgbClr val="222222"/>
              </a:buClr>
              <a:buSzPts val="2600"/>
              <a:buNone/>
              <a:defRPr sz="2600">
                <a:solidFill>
                  <a:srgbClr val="222222"/>
                </a:solidFill>
              </a:defRPr>
            </a:lvl8pPr>
            <a:lvl9pPr lvl="8">
              <a:spcBef>
                <a:spcPts val="0"/>
              </a:spcBef>
              <a:spcAft>
                <a:spcPts val="0"/>
              </a:spcAft>
              <a:buClr>
                <a:srgbClr val="222222"/>
              </a:buClr>
              <a:buSzPts val="2600"/>
              <a:buNone/>
              <a:defRPr sz="2600">
                <a:solidFill>
                  <a:srgbClr val="222222"/>
                </a:solidFill>
              </a:defRPr>
            </a:lvl9pPr>
          </a:lstStyle>
          <a:p/>
        </p:txBody>
      </p:sp>
      <p:sp>
        <p:nvSpPr>
          <p:cNvPr id="24" name="Google Shape;24;p5"/>
          <p:cNvSpPr txBox="1"/>
          <p:nvPr>
            <p:ph idx="1" type="body"/>
          </p:nvPr>
        </p:nvSpPr>
        <p:spPr>
          <a:xfrm>
            <a:off x="365760" y="1371600"/>
            <a:ext cx="8412600" cy="3200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5" name="Google Shape;25;p5"/>
          <p:cNvSpPr txBox="1"/>
          <p:nvPr>
            <p:ph idx="12" type="sldNum"/>
          </p:nvPr>
        </p:nvSpPr>
        <p:spPr>
          <a:xfrm>
            <a:off x="7863840" y="4773168"/>
            <a:ext cx="914400" cy="365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6" name="Google Shape;26;p5"/>
          <p:cNvSpPr txBox="1"/>
          <p:nvPr/>
        </p:nvSpPr>
        <p:spPr>
          <a:xfrm>
            <a:off x="365760" y="4599432"/>
            <a:ext cx="8412600" cy="274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rgbClr val="888888"/>
                </a:solidFill>
                <a:latin typeface="Roboto"/>
                <a:ea typeface="Roboto"/>
                <a:cs typeface="Roboto"/>
                <a:sym typeface="Roboto"/>
              </a:rPr>
              <a:t>Analyze   ·   Profile   ·   Optimize   ·   </a:t>
            </a:r>
            <a:r>
              <a:rPr b="1" lang="en" sz="1000">
                <a:solidFill>
                  <a:srgbClr val="1F4E79"/>
                </a:solidFill>
                <a:latin typeface="Roboto"/>
                <a:ea typeface="Roboto"/>
                <a:cs typeface="Roboto"/>
                <a:sym typeface="Roboto"/>
              </a:rPr>
              <a:t>Accelerate</a:t>
            </a:r>
            <a:r>
              <a:rPr lang="en" sz="1000">
                <a:solidFill>
                  <a:srgbClr val="888888"/>
                </a:solidFill>
                <a:latin typeface="Roboto"/>
                <a:ea typeface="Roboto"/>
                <a:cs typeface="Roboto"/>
                <a:sym typeface="Roboto"/>
              </a:rPr>
              <a:t>   ·   Trade-offs</a:t>
            </a:r>
            <a:endParaRPr sz="1000">
              <a:solidFill>
                <a:srgbClr val="888888"/>
              </a:solidFill>
              <a:latin typeface="Roboto"/>
              <a:ea typeface="Roboto"/>
              <a:cs typeface="Roboto"/>
              <a:sym typeface="Roboto"/>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Optimize">
  <p:cSld name="TITLE_AND_BODY_3">
    <p:spTree>
      <p:nvGrpSpPr>
        <p:cNvPr id="27" name="Shape 27"/>
        <p:cNvGrpSpPr/>
        <p:nvPr/>
      </p:nvGrpSpPr>
      <p:grpSpPr>
        <a:xfrm>
          <a:off x="0" y="0"/>
          <a:ext cx="0" cy="0"/>
          <a:chOff x="0" y="0"/>
          <a:chExt cx="0" cy="0"/>
        </a:xfrm>
      </p:grpSpPr>
      <p:sp>
        <p:nvSpPr>
          <p:cNvPr id="28" name="Google Shape;28;p6"/>
          <p:cNvSpPr txBox="1"/>
          <p:nvPr>
            <p:ph type="title"/>
          </p:nvPr>
        </p:nvSpPr>
        <p:spPr>
          <a:xfrm>
            <a:off x="365760" y="228600"/>
            <a:ext cx="8412600" cy="1005900"/>
          </a:xfrm>
          <a:prstGeom prst="rect">
            <a:avLst/>
          </a:prstGeom>
        </p:spPr>
        <p:txBody>
          <a:bodyPr anchorCtr="0" anchor="t" bIns="91425" lIns="91425" spcFirstLastPara="1" rIns="91425" wrap="square" tIns="91425">
            <a:noAutofit/>
          </a:bodyPr>
          <a:lstStyle>
            <a:lvl1pPr lvl="0">
              <a:spcBef>
                <a:spcPts val="0"/>
              </a:spcBef>
              <a:spcAft>
                <a:spcPts val="0"/>
              </a:spcAft>
              <a:buClr>
                <a:srgbClr val="222222"/>
              </a:buClr>
              <a:buSzPts val="2600"/>
              <a:buNone/>
              <a:defRPr sz="2600">
                <a:solidFill>
                  <a:srgbClr val="222222"/>
                </a:solidFill>
              </a:defRPr>
            </a:lvl1pPr>
            <a:lvl2pPr lvl="1">
              <a:spcBef>
                <a:spcPts val="0"/>
              </a:spcBef>
              <a:spcAft>
                <a:spcPts val="0"/>
              </a:spcAft>
              <a:buClr>
                <a:srgbClr val="222222"/>
              </a:buClr>
              <a:buSzPts val="2600"/>
              <a:buNone/>
              <a:defRPr sz="2600">
                <a:solidFill>
                  <a:srgbClr val="222222"/>
                </a:solidFill>
              </a:defRPr>
            </a:lvl2pPr>
            <a:lvl3pPr lvl="2">
              <a:spcBef>
                <a:spcPts val="0"/>
              </a:spcBef>
              <a:spcAft>
                <a:spcPts val="0"/>
              </a:spcAft>
              <a:buClr>
                <a:srgbClr val="222222"/>
              </a:buClr>
              <a:buSzPts val="2600"/>
              <a:buNone/>
              <a:defRPr sz="2600">
                <a:solidFill>
                  <a:srgbClr val="222222"/>
                </a:solidFill>
              </a:defRPr>
            </a:lvl3pPr>
            <a:lvl4pPr lvl="3">
              <a:spcBef>
                <a:spcPts val="0"/>
              </a:spcBef>
              <a:spcAft>
                <a:spcPts val="0"/>
              </a:spcAft>
              <a:buClr>
                <a:srgbClr val="222222"/>
              </a:buClr>
              <a:buSzPts val="2600"/>
              <a:buNone/>
              <a:defRPr sz="2600">
                <a:solidFill>
                  <a:srgbClr val="222222"/>
                </a:solidFill>
              </a:defRPr>
            </a:lvl4pPr>
            <a:lvl5pPr lvl="4">
              <a:spcBef>
                <a:spcPts val="0"/>
              </a:spcBef>
              <a:spcAft>
                <a:spcPts val="0"/>
              </a:spcAft>
              <a:buClr>
                <a:srgbClr val="222222"/>
              </a:buClr>
              <a:buSzPts val="2600"/>
              <a:buNone/>
              <a:defRPr sz="2600">
                <a:solidFill>
                  <a:srgbClr val="222222"/>
                </a:solidFill>
              </a:defRPr>
            </a:lvl5pPr>
            <a:lvl6pPr lvl="5">
              <a:spcBef>
                <a:spcPts val="0"/>
              </a:spcBef>
              <a:spcAft>
                <a:spcPts val="0"/>
              </a:spcAft>
              <a:buClr>
                <a:srgbClr val="222222"/>
              </a:buClr>
              <a:buSzPts val="2600"/>
              <a:buNone/>
              <a:defRPr sz="2600">
                <a:solidFill>
                  <a:srgbClr val="222222"/>
                </a:solidFill>
              </a:defRPr>
            </a:lvl6pPr>
            <a:lvl7pPr lvl="6">
              <a:spcBef>
                <a:spcPts val="0"/>
              </a:spcBef>
              <a:spcAft>
                <a:spcPts val="0"/>
              </a:spcAft>
              <a:buClr>
                <a:srgbClr val="222222"/>
              </a:buClr>
              <a:buSzPts val="2600"/>
              <a:buNone/>
              <a:defRPr sz="2600">
                <a:solidFill>
                  <a:srgbClr val="222222"/>
                </a:solidFill>
              </a:defRPr>
            </a:lvl7pPr>
            <a:lvl8pPr lvl="7">
              <a:spcBef>
                <a:spcPts val="0"/>
              </a:spcBef>
              <a:spcAft>
                <a:spcPts val="0"/>
              </a:spcAft>
              <a:buClr>
                <a:srgbClr val="222222"/>
              </a:buClr>
              <a:buSzPts val="2600"/>
              <a:buNone/>
              <a:defRPr sz="2600">
                <a:solidFill>
                  <a:srgbClr val="222222"/>
                </a:solidFill>
              </a:defRPr>
            </a:lvl8pPr>
            <a:lvl9pPr lvl="8">
              <a:spcBef>
                <a:spcPts val="0"/>
              </a:spcBef>
              <a:spcAft>
                <a:spcPts val="0"/>
              </a:spcAft>
              <a:buClr>
                <a:srgbClr val="222222"/>
              </a:buClr>
              <a:buSzPts val="2600"/>
              <a:buNone/>
              <a:defRPr sz="2600">
                <a:solidFill>
                  <a:srgbClr val="222222"/>
                </a:solidFill>
              </a:defRPr>
            </a:lvl9pPr>
          </a:lstStyle>
          <a:p/>
        </p:txBody>
      </p:sp>
      <p:sp>
        <p:nvSpPr>
          <p:cNvPr id="29" name="Google Shape;29;p6"/>
          <p:cNvSpPr txBox="1"/>
          <p:nvPr>
            <p:ph idx="1" type="body"/>
          </p:nvPr>
        </p:nvSpPr>
        <p:spPr>
          <a:xfrm>
            <a:off x="365760" y="1371600"/>
            <a:ext cx="8412600" cy="3200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0" name="Google Shape;30;p6"/>
          <p:cNvSpPr txBox="1"/>
          <p:nvPr>
            <p:ph idx="12" type="sldNum"/>
          </p:nvPr>
        </p:nvSpPr>
        <p:spPr>
          <a:xfrm>
            <a:off x="7863840" y="4773168"/>
            <a:ext cx="914400" cy="365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6"/>
          <p:cNvSpPr txBox="1"/>
          <p:nvPr/>
        </p:nvSpPr>
        <p:spPr>
          <a:xfrm>
            <a:off x="365760" y="4599432"/>
            <a:ext cx="8412600" cy="274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rgbClr val="888888"/>
                </a:solidFill>
                <a:latin typeface="Roboto"/>
                <a:ea typeface="Roboto"/>
                <a:cs typeface="Roboto"/>
                <a:sym typeface="Roboto"/>
              </a:rPr>
              <a:t>Analyze   ·   Profile   ·   </a:t>
            </a:r>
            <a:r>
              <a:rPr b="1" lang="en" sz="1000">
                <a:solidFill>
                  <a:srgbClr val="1F4E79"/>
                </a:solidFill>
                <a:latin typeface="Roboto"/>
                <a:ea typeface="Roboto"/>
                <a:cs typeface="Roboto"/>
                <a:sym typeface="Roboto"/>
              </a:rPr>
              <a:t>Optimize</a:t>
            </a:r>
            <a:r>
              <a:rPr lang="en" sz="1000">
                <a:solidFill>
                  <a:srgbClr val="888888"/>
                </a:solidFill>
                <a:latin typeface="Roboto"/>
                <a:ea typeface="Roboto"/>
                <a:cs typeface="Roboto"/>
                <a:sym typeface="Roboto"/>
              </a:rPr>
              <a:t>   ·   Accelerate   ·   Trade-offs</a:t>
            </a:r>
            <a:endParaRPr sz="1000">
              <a:solidFill>
                <a:srgbClr val="888888"/>
              </a:solidFill>
              <a:latin typeface="Roboto"/>
              <a:ea typeface="Roboto"/>
              <a:cs typeface="Roboto"/>
              <a:sym typeface="Roboto"/>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Profile">
  <p:cSld name="TITLE_AND_BODY_2">
    <p:spTree>
      <p:nvGrpSpPr>
        <p:cNvPr id="32" name="Shape 32"/>
        <p:cNvGrpSpPr/>
        <p:nvPr/>
      </p:nvGrpSpPr>
      <p:grpSpPr>
        <a:xfrm>
          <a:off x="0" y="0"/>
          <a:ext cx="0" cy="0"/>
          <a:chOff x="0" y="0"/>
          <a:chExt cx="0" cy="0"/>
        </a:xfrm>
      </p:grpSpPr>
      <p:sp>
        <p:nvSpPr>
          <p:cNvPr id="33" name="Google Shape;33;p7"/>
          <p:cNvSpPr txBox="1"/>
          <p:nvPr>
            <p:ph type="title"/>
          </p:nvPr>
        </p:nvSpPr>
        <p:spPr>
          <a:xfrm>
            <a:off x="365760" y="228600"/>
            <a:ext cx="8412600" cy="1005900"/>
          </a:xfrm>
          <a:prstGeom prst="rect">
            <a:avLst/>
          </a:prstGeom>
        </p:spPr>
        <p:txBody>
          <a:bodyPr anchorCtr="0" anchor="t" bIns="91425" lIns="91425" spcFirstLastPara="1" rIns="91425" wrap="square" tIns="91425">
            <a:noAutofit/>
          </a:bodyPr>
          <a:lstStyle>
            <a:lvl1pPr lvl="0">
              <a:spcBef>
                <a:spcPts val="0"/>
              </a:spcBef>
              <a:spcAft>
                <a:spcPts val="0"/>
              </a:spcAft>
              <a:buClr>
                <a:srgbClr val="222222"/>
              </a:buClr>
              <a:buSzPts val="2600"/>
              <a:buNone/>
              <a:defRPr sz="2600">
                <a:solidFill>
                  <a:srgbClr val="222222"/>
                </a:solidFill>
              </a:defRPr>
            </a:lvl1pPr>
            <a:lvl2pPr lvl="1">
              <a:spcBef>
                <a:spcPts val="0"/>
              </a:spcBef>
              <a:spcAft>
                <a:spcPts val="0"/>
              </a:spcAft>
              <a:buClr>
                <a:srgbClr val="222222"/>
              </a:buClr>
              <a:buSzPts val="2600"/>
              <a:buNone/>
              <a:defRPr sz="2600">
                <a:solidFill>
                  <a:srgbClr val="222222"/>
                </a:solidFill>
              </a:defRPr>
            </a:lvl2pPr>
            <a:lvl3pPr lvl="2">
              <a:spcBef>
                <a:spcPts val="0"/>
              </a:spcBef>
              <a:spcAft>
                <a:spcPts val="0"/>
              </a:spcAft>
              <a:buClr>
                <a:srgbClr val="222222"/>
              </a:buClr>
              <a:buSzPts val="2600"/>
              <a:buNone/>
              <a:defRPr sz="2600">
                <a:solidFill>
                  <a:srgbClr val="222222"/>
                </a:solidFill>
              </a:defRPr>
            </a:lvl3pPr>
            <a:lvl4pPr lvl="3">
              <a:spcBef>
                <a:spcPts val="0"/>
              </a:spcBef>
              <a:spcAft>
                <a:spcPts val="0"/>
              </a:spcAft>
              <a:buClr>
                <a:srgbClr val="222222"/>
              </a:buClr>
              <a:buSzPts val="2600"/>
              <a:buNone/>
              <a:defRPr sz="2600">
                <a:solidFill>
                  <a:srgbClr val="222222"/>
                </a:solidFill>
              </a:defRPr>
            </a:lvl4pPr>
            <a:lvl5pPr lvl="4">
              <a:spcBef>
                <a:spcPts val="0"/>
              </a:spcBef>
              <a:spcAft>
                <a:spcPts val="0"/>
              </a:spcAft>
              <a:buClr>
                <a:srgbClr val="222222"/>
              </a:buClr>
              <a:buSzPts val="2600"/>
              <a:buNone/>
              <a:defRPr sz="2600">
                <a:solidFill>
                  <a:srgbClr val="222222"/>
                </a:solidFill>
              </a:defRPr>
            </a:lvl5pPr>
            <a:lvl6pPr lvl="5">
              <a:spcBef>
                <a:spcPts val="0"/>
              </a:spcBef>
              <a:spcAft>
                <a:spcPts val="0"/>
              </a:spcAft>
              <a:buClr>
                <a:srgbClr val="222222"/>
              </a:buClr>
              <a:buSzPts val="2600"/>
              <a:buNone/>
              <a:defRPr sz="2600">
                <a:solidFill>
                  <a:srgbClr val="222222"/>
                </a:solidFill>
              </a:defRPr>
            </a:lvl6pPr>
            <a:lvl7pPr lvl="6">
              <a:spcBef>
                <a:spcPts val="0"/>
              </a:spcBef>
              <a:spcAft>
                <a:spcPts val="0"/>
              </a:spcAft>
              <a:buClr>
                <a:srgbClr val="222222"/>
              </a:buClr>
              <a:buSzPts val="2600"/>
              <a:buNone/>
              <a:defRPr sz="2600">
                <a:solidFill>
                  <a:srgbClr val="222222"/>
                </a:solidFill>
              </a:defRPr>
            </a:lvl7pPr>
            <a:lvl8pPr lvl="7">
              <a:spcBef>
                <a:spcPts val="0"/>
              </a:spcBef>
              <a:spcAft>
                <a:spcPts val="0"/>
              </a:spcAft>
              <a:buClr>
                <a:srgbClr val="222222"/>
              </a:buClr>
              <a:buSzPts val="2600"/>
              <a:buNone/>
              <a:defRPr sz="2600">
                <a:solidFill>
                  <a:srgbClr val="222222"/>
                </a:solidFill>
              </a:defRPr>
            </a:lvl8pPr>
            <a:lvl9pPr lvl="8">
              <a:spcBef>
                <a:spcPts val="0"/>
              </a:spcBef>
              <a:spcAft>
                <a:spcPts val="0"/>
              </a:spcAft>
              <a:buClr>
                <a:srgbClr val="222222"/>
              </a:buClr>
              <a:buSzPts val="2600"/>
              <a:buNone/>
              <a:defRPr sz="2600">
                <a:solidFill>
                  <a:srgbClr val="222222"/>
                </a:solidFill>
              </a:defRPr>
            </a:lvl9pPr>
          </a:lstStyle>
          <a:p/>
        </p:txBody>
      </p:sp>
      <p:sp>
        <p:nvSpPr>
          <p:cNvPr id="34" name="Google Shape;34;p7"/>
          <p:cNvSpPr txBox="1"/>
          <p:nvPr>
            <p:ph idx="1" type="body"/>
          </p:nvPr>
        </p:nvSpPr>
        <p:spPr>
          <a:xfrm>
            <a:off x="365760" y="1371600"/>
            <a:ext cx="8412600" cy="3200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5" name="Google Shape;35;p7"/>
          <p:cNvSpPr txBox="1"/>
          <p:nvPr>
            <p:ph idx="12" type="sldNum"/>
          </p:nvPr>
        </p:nvSpPr>
        <p:spPr>
          <a:xfrm>
            <a:off x="7863840" y="4773168"/>
            <a:ext cx="914400" cy="365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36" name="Google Shape;36;p7"/>
          <p:cNvSpPr txBox="1"/>
          <p:nvPr/>
        </p:nvSpPr>
        <p:spPr>
          <a:xfrm>
            <a:off x="365760" y="4599432"/>
            <a:ext cx="8412600" cy="274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rgbClr val="888888"/>
                </a:solidFill>
                <a:latin typeface="Roboto"/>
                <a:ea typeface="Roboto"/>
                <a:cs typeface="Roboto"/>
                <a:sym typeface="Roboto"/>
              </a:rPr>
              <a:t>Analyze   ·   </a:t>
            </a:r>
            <a:r>
              <a:rPr b="1" lang="en" sz="1000">
                <a:solidFill>
                  <a:srgbClr val="1F4E79"/>
                </a:solidFill>
                <a:latin typeface="Roboto"/>
                <a:ea typeface="Roboto"/>
                <a:cs typeface="Roboto"/>
                <a:sym typeface="Roboto"/>
              </a:rPr>
              <a:t>Profile</a:t>
            </a:r>
            <a:r>
              <a:rPr lang="en" sz="1000">
                <a:solidFill>
                  <a:srgbClr val="888888"/>
                </a:solidFill>
                <a:latin typeface="Roboto"/>
                <a:ea typeface="Roboto"/>
                <a:cs typeface="Roboto"/>
                <a:sym typeface="Roboto"/>
              </a:rPr>
              <a:t>   ·   Optimize   ·   Accelerate   ·   Trade-offs</a:t>
            </a:r>
            <a:endParaRPr sz="1000">
              <a:solidFill>
                <a:srgbClr val="888888"/>
              </a:solidFill>
              <a:latin typeface="Roboto"/>
              <a:ea typeface="Roboto"/>
              <a:cs typeface="Roboto"/>
              <a:sym typeface="Roboto"/>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nalyze">
  <p:cSld name="TITLE_AND_BODY_1">
    <p:spTree>
      <p:nvGrpSpPr>
        <p:cNvPr id="37" name="Shape 37"/>
        <p:cNvGrpSpPr/>
        <p:nvPr/>
      </p:nvGrpSpPr>
      <p:grpSpPr>
        <a:xfrm>
          <a:off x="0" y="0"/>
          <a:ext cx="0" cy="0"/>
          <a:chOff x="0" y="0"/>
          <a:chExt cx="0" cy="0"/>
        </a:xfrm>
      </p:grpSpPr>
      <p:sp>
        <p:nvSpPr>
          <p:cNvPr id="38" name="Google Shape;38;p8"/>
          <p:cNvSpPr txBox="1"/>
          <p:nvPr>
            <p:ph type="title"/>
          </p:nvPr>
        </p:nvSpPr>
        <p:spPr>
          <a:xfrm>
            <a:off x="365760" y="228600"/>
            <a:ext cx="8412600" cy="1005900"/>
          </a:xfrm>
          <a:prstGeom prst="rect">
            <a:avLst/>
          </a:prstGeom>
        </p:spPr>
        <p:txBody>
          <a:bodyPr anchorCtr="0" anchor="t" bIns="91425" lIns="91425" spcFirstLastPara="1" rIns="91425" wrap="square" tIns="91425">
            <a:noAutofit/>
          </a:bodyPr>
          <a:lstStyle>
            <a:lvl1pPr lvl="0">
              <a:spcBef>
                <a:spcPts val="0"/>
              </a:spcBef>
              <a:spcAft>
                <a:spcPts val="0"/>
              </a:spcAft>
              <a:buClr>
                <a:srgbClr val="222222"/>
              </a:buClr>
              <a:buSzPts val="2600"/>
              <a:buNone/>
              <a:defRPr sz="2600">
                <a:solidFill>
                  <a:srgbClr val="222222"/>
                </a:solidFill>
              </a:defRPr>
            </a:lvl1pPr>
            <a:lvl2pPr lvl="1">
              <a:spcBef>
                <a:spcPts val="0"/>
              </a:spcBef>
              <a:spcAft>
                <a:spcPts val="0"/>
              </a:spcAft>
              <a:buClr>
                <a:srgbClr val="222222"/>
              </a:buClr>
              <a:buSzPts val="2600"/>
              <a:buNone/>
              <a:defRPr sz="2600">
                <a:solidFill>
                  <a:srgbClr val="222222"/>
                </a:solidFill>
              </a:defRPr>
            </a:lvl2pPr>
            <a:lvl3pPr lvl="2">
              <a:spcBef>
                <a:spcPts val="0"/>
              </a:spcBef>
              <a:spcAft>
                <a:spcPts val="0"/>
              </a:spcAft>
              <a:buClr>
                <a:srgbClr val="222222"/>
              </a:buClr>
              <a:buSzPts val="2600"/>
              <a:buNone/>
              <a:defRPr sz="2600">
                <a:solidFill>
                  <a:srgbClr val="222222"/>
                </a:solidFill>
              </a:defRPr>
            </a:lvl3pPr>
            <a:lvl4pPr lvl="3">
              <a:spcBef>
                <a:spcPts val="0"/>
              </a:spcBef>
              <a:spcAft>
                <a:spcPts val="0"/>
              </a:spcAft>
              <a:buClr>
                <a:srgbClr val="222222"/>
              </a:buClr>
              <a:buSzPts val="2600"/>
              <a:buNone/>
              <a:defRPr sz="2600">
                <a:solidFill>
                  <a:srgbClr val="222222"/>
                </a:solidFill>
              </a:defRPr>
            </a:lvl4pPr>
            <a:lvl5pPr lvl="4">
              <a:spcBef>
                <a:spcPts val="0"/>
              </a:spcBef>
              <a:spcAft>
                <a:spcPts val="0"/>
              </a:spcAft>
              <a:buClr>
                <a:srgbClr val="222222"/>
              </a:buClr>
              <a:buSzPts val="2600"/>
              <a:buNone/>
              <a:defRPr sz="2600">
                <a:solidFill>
                  <a:srgbClr val="222222"/>
                </a:solidFill>
              </a:defRPr>
            </a:lvl5pPr>
            <a:lvl6pPr lvl="5">
              <a:spcBef>
                <a:spcPts val="0"/>
              </a:spcBef>
              <a:spcAft>
                <a:spcPts val="0"/>
              </a:spcAft>
              <a:buClr>
                <a:srgbClr val="222222"/>
              </a:buClr>
              <a:buSzPts val="2600"/>
              <a:buNone/>
              <a:defRPr sz="2600">
                <a:solidFill>
                  <a:srgbClr val="222222"/>
                </a:solidFill>
              </a:defRPr>
            </a:lvl6pPr>
            <a:lvl7pPr lvl="6">
              <a:spcBef>
                <a:spcPts val="0"/>
              </a:spcBef>
              <a:spcAft>
                <a:spcPts val="0"/>
              </a:spcAft>
              <a:buClr>
                <a:srgbClr val="222222"/>
              </a:buClr>
              <a:buSzPts val="2600"/>
              <a:buNone/>
              <a:defRPr sz="2600">
                <a:solidFill>
                  <a:srgbClr val="222222"/>
                </a:solidFill>
              </a:defRPr>
            </a:lvl7pPr>
            <a:lvl8pPr lvl="7">
              <a:spcBef>
                <a:spcPts val="0"/>
              </a:spcBef>
              <a:spcAft>
                <a:spcPts val="0"/>
              </a:spcAft>
              <a:buClr>
                <a:srgbClr val="222222"/>
              </a:buClr>
              <a:buSzPts val="2600"/>
              <a:buNone/>
              <a:defRPr sz="2600">
                <a:solidFill>
                  <a:srgbClr val="222222"/>
                </a:solidFill>
              </a:defRPr>
            </a:lvl8pPr>
            <a:lvl9pPr lvl="8">
              <a:spcBef>
                <a:spcPts val="0"/>
              </a:spcBef>
              <a:spcAft>
                <a:spcPts val="0"/>
              </a:spcAft>
              <a:buClr>
                <a:srgbClr val="222222"/>
              </a:buClr>
              <a:buSzPts val="2600"/>
              <a:buNone/>
              <a:defRPr sz="2600">
                <a:solidFill>
                  <a:srgbClr val="222222"/>
                </a:solidFill>
              </a:defRPr>
            </a:lvl9pPr>
          </a:lstStyle>
          <a:p/>
        </p:txBody>
      </p:sp>
      <p:sp>
        <p:nvSpPr>
          <p:cNvPr id="39" name="Google Shape;39;p8"/>
          <p:cNvSpPr txBox="1"/>
          <p:nvPr>
            <p:ph idx="1" type="body"/>
          </p:nvPr>
        </p:nvSpPr>
        <p:spPr>
          <a:xfrm>
            <a:off x="365760" y="1371600"/>
            <a:ext cx="8412600" cy="3200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8"/>
          <p:cNvSpPr txBox="1"/>
          <p:nvPr>
            <p:ph idx="12" type="sldNum"/>
          </p:nvPr>
        </p:nvSpPr>
        <p:spPr>
          <a:xfrm>
            <a:off x="7863840" y="4773168"/>
            <a:ext cx="914400" cy="365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41" name="Google Shape;41;p8"/>
          <p:cNvSpPr txBox="1"/>
          <p:nvPr/>
        </p:nvSpPr>
        <p:spPr>
          <a:xfrm>
            <a:off x="365760" y="4599432"/>
            <a:ext cx="8412600" cy="274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000">
                <a:solidFill>
                  <a:srgbClr val="1F4E79"/>
                </a:solidFill>
                <a:latin typeface="Roboto"/>
                <a:ea typeface="Roboto"/>
                <a:cs typeface="Roboto"/>
                <a:sym typeface="Roboto"/>
              </a:rPr>
              <a:t>Analyze</a:t>
            </a:r>
            <a:r>
              <a:rPr lang="en" sz="1000">
                <a:solidFill>
                  <a:srgbClr val="888888"/>
                </a:solidFill>
                <a:latin typeface="Roboto"/>
                <a:ea typeface="Roboto"/>
                <a:cs typeface="Roboto"/>
                <a:sym typeface="Roboto"/>
              </a:rPr>
              <a:t>   ·   Profile   ·   Optimize   ·   Accelerate   ·   Trade-offs</a:t>
            </a:r>
            <a:endParaRPr sz="1000">
              <a:solidFill>
                <a:srgbClr val="888888"/>
              </a:solidFill>
              <a:latin typeface="Roboto"/>
              <a:ea typeface="Roboto"/>
              <a:cs typeface="Roboto"/>
              <a:sym typeface="Roboto"/>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2" name="Shape 42"/>
        <p:cNvGrpSpPr/>
        <p:nvPr/>
      </p:nvGrpSpPr>
      <p:grpSpPr>
        <a:xfrm>
          <a:off x="0" y="0"/>
          <a:ext cx="0" cy="0"/>
          <a:chOff x="0" y="0"/>
          <a:chExt cx="0" cy="0"/>
        </a:xfrm>
      </p:grpSpPr>
      <p:sp>
        <p:nvSpPr>
          <p:cNvPr id="43" name="Google Shape;43;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rgbClr val="1F4E79"/>
              </a:buClr>
              <a:buSzPts val="2800"/>
              <a:buFont typeface="Roboto"/>
              <a:buNone/>
              <a:defRPr sz="2800">
                <a:solidFill>
                  <a:srgbClr val="1F4E79"/>
                </a:solidFill>
                <a:latin typeface="Roboto"/>
                <a:ea typeface="Roboto"/>
                <a:cs typeface="Roboto"/>
                <a:sym typeface="Roboto"/>
              </a:defRPr>
            </a:lvl1pPr>
            <a:lvl2pPr lvl="1">
              <a:spcBef>
                <a:spcPts val="0"/>
              </a:spcBef>
              <a:spcAft>
                <a:spcPts val="0"/>
              </a:spcAft>
              <a:buClr>
                <a:srgbClr val="1F4E79"/>
              </a:buClr>
              <a:buSzPts val="2800"/>
              <a:buFont typeface="Roboto"/>
              <a:buNone/>
              <a:defRPr sz="2800">
                <a:solidFill>
                  <a:srgbClr val="1F4E79"/>
                </a:solidFill>
                <a:latin typeface="Roboto"/>
                <a:ea typeface="Roboto"/>
                <a:cs typeface="Roboto"/>
                <a:sym typeface="Roboto"/>
              </a:defRPr>
            </a:lvl2pPr>
            <a:lvl3pPr lvl="2">
              <a:spcBef>
                <a:spcPts val="0"/>
              </a:spcBef>
              <a:spcAft>
                <a:spcPts val="0"/>
              </a:spcAft>
              <a:buClr>
                <a:srgbClr val="1F4E79"/>
              </a:buClr>
              <a:buSzPts val="2800"/>
              <a:buFont typeface="Roboto"/>
              <a:buNone/>
              <a:defRPr sz="2800">
                <a:solidFill>
                  <a:srgbClr val="1F4E79"/>
                </a:solidFill>
                <a:latin typeface="Roboto"/>
                <a:ea typeface="Roboto"/>
                <a:cs typeface="Roboto"/>
                <a:sym typeface="Roboto"/>
              </a:defRPr>
            </a:lvl3pPr>
            <a:lvl4pPr lvl="3">
              <a:spcBef>
                <a:spcPts val="0"/>
              </a:spcBef>
              <a:spcAft>
                <a:spcPts val="0"/>
              </a:spcAft>
              <a:buClr>
                <a:srgbClr val="1F4E79"/>
              </a:buClr>
              <a:buSzPts val="2800"/>
              <a:buFont typeface="Roboto"/>
              <a:buNone/>
              <a:defRPr sz="2800">
                <a:solidFill>
                  <a:srgbClr val="1F4E79"/>
                </a:solidFill>
                <a:latin typeface="Roboto"/>
                <a:ea typeface="Roboto"/>
                <a:cs typeface="Roboto"/>
                <a:sym typeface="Roboto"/>
              </a:defRPr>
            </a:lvl4pPr>
            <a:lvl5pPr lvl="4">
              <a:spcBef>
                <a:spcPts val="0"/>
              </a:spcBef>
              <a:spcAft>
                <a:spcPts val="0"/>
              </a:spcAft>
              <a:buClr>
                <a:srgbClr val="1F4E79"/>
              </a:buClr>
              <a:buSzPts val="2800"/>
              <a:buFont typeface="Roboto"/>
              <a:buNone/>
              <a:defRPr sz="2800">
                <a:solidFill>
                  <a:srgbClr val="1F4E79"/>
                </a:solidFill>
                <a:latin typeface="Roboto"/>
                <a:ea typeface="Roboto"/>
                <a:cs typeface="Roboto"/>
                <a:sym typeface="Roboto"/>
              </a:defRPr>
            </a:lvl5pPr>
            <a:lvl6pPr lvl="5">
              <a:spcBef>
                <a:spcPts val="0"/>
              </a:spcBef>
              <a:spcAft>
                <a:spcPts val="0"/>
              </a:spcAft>
              <a:buClr>
                <a:srgbClr val="1F4E79"/>
              </a:buClr>
              <a:buSzPts val="2800"/>
              <a:buFont typeface="Roboto"/>
              <a:buNone/>
              <a:defRPr sz="2800">
                <a:solidFill>
                  <a:srgbClr val="1F4E79"/>
                </a:solidFill>
                <a:latin typeface="Roboto"/>
                <a:ea typeface="Roboto"/>
                <a:cs typeface="Roboto"/>
                <a:sym typeface="Roboto"/>
              </a:defRPr>
            </a:lvl6pPr>
            <a:lvl7pPr lvl="6">
              <a:spcBef>
                <a:spcPts val="0"/>
              </a:spcBef>
              <a:spcAft>
                <a:spcPts val="0"/>
              </a:spcAft>
              <a:buClr>
                <a:srgbClr val="1F4E79"/>
              </a:buClr>
              <a:buSzPts val="2800"/>
              <a:buFont typeface="Roboto"/>
              <a:buNone/>
              <a:defRPr sz="2800">
                <a:solidFill>
                  <a:srgbClr val="1F4E79"/>
                </a:solidFill>
                <a:latin typeface="Roboto"/>
                <a:ea typeface="Roboto"/>
                <a:cs typeface="Roboto"/>
                <a:sym typeface="Roboto"/>
              </a:defRPr>
            </a:lvl7pPr>
            <a:lvl8pPr lvl="7">
              <a:spcBef>
                <a:spcPts val="0"/>
              </a:spcBef>
              <a:spcAft>
                <a:spcPts val="0"/>
              </a:spcAft>
              <a:buClr>
                <a:srgbClr val="1F4E79"/>
              </a:buClr>
              <a:buSzPts val="2800"/>
              <a:buFont typeface="Roboto"/>
              <a:buNone/>
              <a:defRPr sz="2800">
                <a:solidFill>
                  <a:srgbClr val="1F4E79"/>
                </a:solidFill>
                <a:latin typeface="Roboto"/>
                <a:ea typeface="Roboto"/>
                <a:cs typeface="Roboto"/>
                <a:sym typeface="Roboto"/>
              </a:defRPr>
            </a:lvl8pPr>
            <a:lvl9pPr lvl="8">
              <a:spcBef>
                <a:spcPts val="0"/>
              </a:spcBef>
              <a:spcAft>
                <a:spcPts val="0"/>
              </a:spcAft>
              <a:buClr>
                <a:srgbClr val="1F4E79"/>
              </a:buClr>
              <a:buSzPts val="2800"/>
              <a:buFont typeface="Roboto"/>
              <a:buNone/>
              <a:defRPr sz="2800">
                <a:solidFill>
                  <a:srgbClr val="1F4E79"/>
                </a:solidFill>
                <a:latin typeface="Roboto"/>
                <a:ea typeface="Roboto"/>
                <a:cs typeface="Roboto"/>
                <a:sym typeface="Roboto"/>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Roboto"/>
              <a:buChar char="●"/>
              <a:defRPr sz="1800">
                <a:solidFill>
                  <a:schemeClr val="dk2"/>
                </a:solidFill>
                <a:latin typeface="Roboto"/>
                <a:ea typeface="Roboto"/>
                <a:cs typeface="Roboto"/>
                <a:sym typeface="Roboto"/>
              </a:defRPr>
            </a:lvl1pPr>
            <a:lvl2pPr indent="-317500" lvl="1" marL="9144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2pPr>
            <a:lvl3pPr indent="-317500" lvl="2" marL="13716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3pPr>
            <a:lvl4pPr indent="-317500" lvl="3" marL="18288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4pPr>
            <a:lvl5pPr indent="-317500" lvl="4" marL="22860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5pPr>
            <a:lvl6pPr indent="-317500" lvl="5" marL="27432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6pPr>
            <a:lvl7pPr indent="-317500" lvl="6" marL="32004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7pPr>
            <a:lvl8pPr indent="-317500" lvl="7" marL="36576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8pPr>
            <a:lvl9pPr indent="-317500" lvl="8" marL="41148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 name="Shape 47"/>
        <p:cNvGrpSpPr/>
        <p:nvPr/>
      </p:nvGrpSpPr>
      <p:grpSpPr>
        <a:xfrm>
          <a:off x="0" y="0"/>
          <a:ext cx="0" cy="0"/>
          <a:chOff x="0" y="0"/>
          <a:chExt cx="0" cy="0"/>
        </a:xfrm>
      </p:grpSpPr>
      <p:sp>
        <p:nvSpPr>
          <p:cNvPr id="48" name="Google Shape;48;p10"/>
          <p:cNvSpPr txBox="1"/>
          <p:nvPr>
            <p:ph type="ctrTitle"/>
          </p:nvPr>
        </p:nvSpPr>
        <p:spPr>
          <a:xfrm>
            <a:off x="311708" y="744575"/>
            <a:ext cx="8520600" cy="2052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
              <a:t>Two Python benchmarks, measured end to end: profiling, optimization, and three hardware accelerators</a:t>
            </a:r>
            <a:endParaRPr/>
          </a:p>
        </p:txBody>
      </p:sp>
      <p:sp>
        <p:nvSpPr>
          <p:cNvPr id="49" name="Google Shape;49;p10"/>
          <p:cNvSpPr txBox="1"/>
          <p:nvPr>
            <p:ph idx="1" type="subTitle"/>
          </p:nvPr>
        </p:nvSpPr>
        <p:spPr>
          <a:xfrm>
            <a:off x="311700" y="2834125"/>
            <a:ext cx="8520600" cy="1737300"/>
          </a:xfrm>
          <a:prstGeom prst="rect">
            <a:avLst/>
          </a:prstGeom>
        </p:spPr>
        <p:txBody>
          <a:bodyPr anchorCtr="0" anchor="t" bIns="91425" lIns="91425" spcFirstLastPara="1" rIns="91425" wrap="square" tIns="91425">
            <a:normAutofit fontScale="85000" lnSpcReduction="20000"/>
          </a:bodyPr>
          <a:lstStyle/>
          <a:p>
            <a:pPr indent="0" lvl="0" marL="0" rtl="0" algn="ctr">
              <a:spcBef>
                <a:spcPts val="0"/>
              </a:spcBef>
              <a:spcAft>
                <a:spcPts val="0"/>
              </a:spcAft>
              <a:buNone/>
            </a:pPr>
            <a:r>
              <a:rPr lang="en"/>
              <a:t>nbody and pyflate from pyperformance</a:t>
            </a:r>
            <a:endParaRPr/>
          </a:p>
          <a:p>
            <a:pPr indent="0" lvl="0" marL="0" rtl="0" algn="ctr">
              <a:spcBef>
                <a:spcPts val="0"/>
              </a:spcBef>
              <a:spcAft>
                <a:spcPts val="0"/>
              </a:spcAft>
              <a:buNone/>
            </a:pPr>
            <a:r>
              <a:rPr lang="en"/>
              <a:t>Matan Cohen · Yuval Kogan</a:t>
            </a:r>
            <a:endParaRPr/>
          </a:p>
          <a:p>
            <a:pPr indent="0" lvl="0" marL="0" rtl="0" algn="ctr">
              <a:spcBef>
                <a:spcPts val="0"/>
              </a:spcBef>
              <a:spcAft>
                <a:spcPts val="0"/>
              </a:spcAft>
              <a:buNone/>
            </a:pPr>
            <a:r>
              <a:rPr lang="en"/>
              <a:t>00460882 HW/SW Co-design, Technion, Final Project</a:t>
            </a:r>
            <a:endParaRPr/>
          </a:p>
          <a:p>
            <a:pPr indent="0" lvl="0" marL="0" rtl="0" algn="ctr">
              <a:spcBef>
                <a:spcPts val="0"/>
              </a:spcBef>
              <a:spcAft>
                <a:spcPts val="0"/>
              </a:spcAft>
              <a:buNone/>
            </a:pPr>
            <a:r>
              <a:rPr lang="en"/>
              <a:t>6 October 2026</a:t>
            </a:r>
            <a:endParaRPr/>
          </a:p>
          <a:p>
            <a:pPr indent="0" lvl="0" marL="0" rtl="0" algn="ctr">
              <a:spcBef>
                <a:spcPts val="0"/>
              </a:spcBef>
              <a:spcAft>
                <a:spcPts val="0"/>
              </a:spcAft>
              <a:buNone/>
            </a:pPr>
            <a:r>
              <a:rPr lang="en"/>
              <a:t>github.com/matanco64/HWSW_Project</a:t>
            </a:r>
            <a:endParaRPr/>
          </a:p>
        </p:txBody>
      </p:sp>
      <p:sp>
        <p:nvSpPr>
          <p:cNvPr id="50" name="Google Shape;50;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 name="Shape 54"/>
        <p:cNvGrpSpPr/>
        <p:nvPr/>
      </p:nvGrpSpPr>
      <p:grpSpPr>
        <a:xfrm>
          <a:off x="0" y="0"/>
          <a:ext cx="0" cy="0"/>
          <a:chOff x="0" y="0"/>
          <a:chExt cx="0" cy="0"/>
        </a:xfrm>
      </p:grpSpPr>
      <p:sp>
        <p:nvSpPr>
          <p:cNvPr id="55" name="Google Shape;55;p11"/>
          <p:cNvSpPr txBox="1"/>
          <p:nvPr>
            <p:ph type="title"/>
          </p:nvPr>
        </p:nvSpPr>
        <p:spPr>
          <a:xfrm>
            <a:off x="365760" y="228600"/>
            <a:ext cx="8412600" cy="1005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Two pure-Python pyperformance workloads, one question: where does the time go, and what would it take to move it to hardware?</a:t>
            </a:r>
            <a:endParaRPr/>
          </a:p>
        </p:txBody>
      </p:sp>
      <p:sp>
        <p:nvSpPr>
          <p:cNvPr id="56" name="Google Shape;56;p11"/>
          <p:cNvSpPr txBox="1"/>
          <p:nvPr>
            <p:ph idx="12" type="sldNum"/>
          </p:nvPr>
        </p:nvSpPr>
        <p:spPr>
          <a:xfrm>
            <a:off x="7863840" y="4773168"/>
            <a:ext cx="914400" cy="3657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graphicFrame>
        <p:nvGraphicFramePr>
          <p:cNvPr id="57" name="Google Shape;57;p11"/>
          <p:cNvGraphicFramePr/>
          <p:nvPr/>
        </p:nvGraphicFramePr>
        <p:xfrm>
          <a:off x="365760" y="2103120"/>
          <a:ext cx="3000000" cy="3000000"/>
        </p:xfrm>
        <a:graphic>
          <a:graphicData uri="http://schemas.openxmlformats.org/drawingml/2006/table">
            <a:tbl>
              <a:tblPr>
                <a:noFill/>
                <a:tableStyleId>{AF7225B2-891F-4798-87D7-A03E2F8B8764}</a:tableStyleId>
              </a:tblPr>
              <a:tblGrid>
                <a:gridCol w="2804150"/>
                <a:gridCol w="2804150"/>
                <a:gridCol w="2804150"/>
              </a:tblGrid>
              <a:tr h="381000">
                <a:tc>
                  <a:txBody>
                    <a:bodyPr/>
                    <a:lstStyle/>
                    <a:p>
                      <a:pPr indent="0" lvl="0" marL="0" rtl="0" algn="l">
                        <a:spcBef>
                          <a:spcPts val="0"/>
                        </a:spcBef>
                        <a:spcAft>
                          <a:spcPts val="0"/>
                        </a:spcAft>
                        <a:buNone/>
                      </a:pPr>
                      <a:r>
                        <a:rPr b="1" lang="en">
                          <a:solidFill>
                            <a:schemeClr val="lt1"/>
                          </a:solidFill>
                          <a:latin typeface="Roboto"/>
                          <a:ea typeface="Roboto"/>
                          <a:cs typeface="Roboto"/>
                          <a:sym typeface="Roboto"/>
                        </a:rPr>
                        <a:t>Tier</a:t>
                      </a:r>
                      <a:endParaRPr b="1">
                        <a:solidFill>
                          <a:schemeClr val="lt1"/>
                        </a:solidFill>
                        <a:latin typeface="Roboto"/>
                        <a:ea typeface="Roboto"/>
                        <a:cs typeface="Roboto"/>
                        <a:sym typeface="Roboto"/>
                      </a:endParaRPr>
                    </a:p>
                  </a:txBody>
                  <a:tcPr marT="91425" marB="91425" marR="91425" marL="91425">
                    <a:solidFill>
                      <a:srgbClr val="1F4E79"/>
                    </a:solidFill>
                  </a:tcPr>
                </a:tc>
                <a:tc>
                  <a:txBody>
                    <a:bodyPr/>
                    <a:lstStyle/>
                    <a:p>
                      <a:pPr indent="0" lvl="0" marL="0" rtl="0" algn="l">
                        <a:spcBef>
                          <a:spcPts val="0"/>
                        </a:spcBef>
                        <a:spcAft>
                          <a:spcPts val="0"/>
                        </a:spcAft>
                        <a:buNone/>
                      </a:pPr>
                      <a:r>
                        <a:rPr b="1" lang="en">
                          <a:solidFill>
                            <a:schemeClr val="lt1"/>
                          </a:solidFill>
                          <a:latin typeface="Roboto"/>
                          <a:ea typeface="Roboto"/>
                          <a:cs typeface="Roboto"/>
                          <a:sym typeface="Roboto"/>
                        </a:rPr>
                        <a:t>nbody</a:t>
                      </a:r>
                      <a:endParaRPr b="1">
                        <a:solidFill>
                          <a:schemeClr val="lt1"/>
                        </a:solidFill>
                        <a:latin typeface="Roboto"/>
                        <a:ea typeface="Roboto"/>
                        <a:cs typeface="Roboto"/>
                        <a:sym typeface="Roboto"/>
                      </a:endParaRPr>
                    </a:p>
                  </a:txBody>
                  <a:tcPr marT="91425" marB="91425" marR="91425" marL="91425">
                    <a:solidFill>
                      <a:srgbClr val="1F4E79"/>
                    </a:solidFill>
                  </a:tcPr>
                </a:tc>
                <a:tc>
                  <a:txBody>
                    <a:bodyPr/>
                    <a:lstStyle/>
                    <a:p>
                      <a:pPr indent="0" lvl="0" marL="0" rtl="0" algn="l">
                        <a:spcBef>
                          <a:spcPts val="0"/>
                        </a:spcBef>
                        <a:spcAft>
                          <a:spcPts val="0"/>
                        </a:spcAft>
                        <a:buNone/>
                      </a:pPr>
                      <a:r>
                        <a:rPr b="1" lang="en">
                          <a:solidFill>
                            <a:schemeClr val="lt1"/>
                          </a:solidFill>
                          <a:latin typeface="Roboto"/>
                          <a:ea typeface="Roboto"/>
                          <a:cs typeface="Roboto"/>
                          <a:sym typeface="Roboto"/>
                        </a:rPr>
                        <a:t>pyflate</a:t>
                      </a:r>
                      <a:endParaRPr b="1">
                        <a:solidFill>
                          <a:schemeClr val="lt1"/>
                        </a:solidFill>
                        <a:latin typeface="Roboto"/>
                        <a:ea typeface="Roboto"/>
                        <a:cs typeface="Roboto"/>
                        <a:sym typeface="Roboto"/>
                      </a:endParaRPr>
                    </a:p>
                  </a:txBody>
                  <a:tcPr marT="91425" marB="91425" marR="91425" marL="91425">
                    <a:solidFill>
                      <a:srgbClr val="1F4E79"/>
                    </a:solidFill>
                  </a:tcPr>
                </a:tc>
              </a:tr>
              <a:tr h="381000">
                <a:tc>
                  <a:txBody>
                    <a:bodyPr/>
                    <a:lstStyle/>
                    <a:p>
                      <a:pPr indent="0" lvl="0" marL="0" rtl="0" algn="l">
                        <a:spcBef>
                          <a:spcPts val="0"/>
                        </a:spcBef>
                        <a:spcAft>
                          <a:spcPts val="0"/>
                        </a:spcAft>
                        <a:buNone/>
                      </a:pPr>
                      <a:r>
                        <a:rPr lang="en" sz="1600">
                          <a:latin typeface="Roboto"/>
                          <a:ea typeface="Roboto"/>
                          <a:cs typeface="Roboto"/>
                          <a:sym typeface="Roboto"/>
                        </a:rPr>
                        <a:t>Original Python (pyperformance)</a:t>
                      </a:r>
                      <a:endParaRPr sz="16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600">
                          <a:latin typeface="Roboto"/>
                          <a:ea typeface="Roboto"/>
                          <a:cs typeface="Roboto"/>
                          <a:sym typeface="Roboto"/>
                        </a:rPr>
                        <a:t>231.20 ms, 1.00x</a:t>
                      </a:r>
                      <a:endParaRPr sz="16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600">
                          <a:latin typeface="Roboto"/>
                          <a:ea typeface="Roboto"/>
                          <a:cs typeface="Roboto"/>
                          <a:sym typeface="Roboto"/>
                        </a:rPr>
                        <a:t>1,123.49 ms, 1.00x</a:t>
                      </a:r>
                      <a:endParaRPr sz="1600">
                        <a:latin typeface="Roboto"/>
                        <a:ea typeface="Roboto"/>
                        <a:cs typeface="Roboto"/>
                        <a:sym typeface="Roboto"/>
                      </a:endParaRPr>
                    </a:p>
                  </a:txBody>
                  <a:tcPr marT="91425" marB="91425" marR="91425" marL="91425"/>
                </a:tc>
              </a:tr>
              <a:tr h="381000">
                <a:tc>
                  <a:txBody>
                    <a:bodyPr/>
                    <a:lstStyle/>
                    <a:p>
                      <a:pPr indent="0" lvl="0" marL="0" rtl="0" algn="l">
                        <a:spcBef>
                          <a:spcPts val="0"/>
                        </a:spcBef>
                        <a:spcAft>
                          <a:spcPts val="0"/>
                        </a:spcAft>
                        <a:buNone/>
                      </a:pPr>
                      <a:r>
                        <a:rPr lang="en" sz="1600">
                          <a:latin typeface="Roboto"/>
                          <a:ea typeface="Roboto"/>
                          <a:cs typeface="Roboto"/>
                          <a:sym typeface="Roboto"/>
                        </a:rPr>
                        <a:t>Optimized Python (pyperformance)</a:t>
                      </a:r>
                      <a:endParaRPr sz="16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600">
                          <a:latin typeface="Roboto"/>
                          <a:ea typeface="Roboto"/>
                          <a:cs typeface="Roboto"/>
                          <a:sym typeface="Roboto"/>
                        </a:rPr>
                        <a:t>143.13 ms, 1.62x</a:t>
                      </a:r>
                      <a:endParaRPr sz="16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600">
                          <a:latin typeface="Roboto"/>
                          <a:ea typeface="Roboto"/>
                          <a:cs typeface="Roboto"/>
                          <a:sym typeface="Roboto"/>
                        </a:rPr>
                        <a:t>281.16 ms, 4.00x</a:t>
                      </a:r>
                      <a:endParaRPr sz="1600">
                        <a:latin typeface="Roboto"/>
                        <a:ea typeface="Roboto"/>
                        <a:cs typeface="Roboto"/>
                        <a:sym typeface="Roboto"/>
                      </a:endParaRPr>
                    </a:p>
                  </a:txBody>
                  <a:tcPr marT="91425" marB="91425" marR="91425" marL="91425"/>
                </a:tc>
              </a:tr>
              <a:tr h="381000">
                <a:tc>
                  <a:txBody>
                    <a:bodyPr/>
                    <a:lstStyle/>
                    <a:p>
                      <a:pPr indent="0" lvl="0" marL="0" rtl="0" algn="l">
                        <a:spcBef>
                          <a:spcPts val="0"/>
                        </a:spcBef>
                        <a:spcAft>
                          <a:spcPts val="0"/>
                        </a:spcAft>
                        <a:buNone/>
                      </a:pPr>
                      <a:r>
                        <a:rPr lang="en" sz="1600">
                          <a:latin typeface="Roboto"/>
                          <a:ea typeface="Roboto"/>
                          <a:cs typeface="Roboto"/>
                          <a:sym typeface="Roboto"/>
                        </a:rPr>
                        <a:t>Python + Rust (direct pyperf)</a:t>
                      </a:r>
                      <a:endParaRPr sz="16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600">
                          <a:latin typeface="Roboto"/>
                          <a:ea typeface="Roboto"/>
                          <a:cs typeface="Roboto"/>
                          <a:sym typeface="Roboto"/>
                        </a:rPr>
                        <a:t>9.530 ms, 24.26x vs original</a:t>
                      </a:r>
                      <a:endParaRPr sz="16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600">
                          <a:latin typeface="Roboto"/>
                          <a:ea typeface="Roboto"/>
                          <a:cs typeface="Roboto"/>
                          <a:sym typeface="Roboto"/>
                        </a:rPr>
                        <a:t>170.01 ms, 6.61x vs original</a:t>
                      </a:r>
                      <a:endParaRPr sz="1600">
                        <a:latin typeface="Roboto"/>
                        <a:ea typeface="Roboto"/>
                        <a:cs typeface="Roboto"/>
                        <a:sym typeface="Roboto"/>
                      </a:endParaRPr>
                    </a:p>
                  </a:txBody>
                  <a:tcPr marT="91425" marB="91425" marR="91425" marL="91425"/>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2"/>
          <p:cNvSpPr txBox="1"/>
          <p:nvPr>
            <p:ph type="title"/>
          </p:nvPr>
        </p:nvSpPr>
        <p:spPr>
          <a:xfrm>
            <a:off x="365760" y="228600"/>
            <a:ext cx="8412600" cy="1005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nbody is 5 bodies, 10 pairs and 20,000 steps of pure-Python float arithmetic</a:t>
            </a:r>
            <a:endParaRPr/>
          </a:p>
        </p:txBody>
      </p:sp>
      <p:sp>
        <p:nvSpPr>
          <p:cNvPr id="63" name="Google Shape;63;p12"/>
          <p:cNvSpPr txBox="1"/>
          <p:nvPr>
            <p:ph idx="12" type="sldNum"/>
          </p:nvPr>
        </p:nvSpPr>
        <p:spPr>
          <a:xfrm>
            <a:off x="7863840" y="4773168"/>
            <a:ext cx="914400" cy="3657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64" name="Google Shape;64;p12" title="nbody_pairs.png"/>
          <p:cNvPicPr preferRelativeResize="0"/>
          <p:nvPr/>
        </p:nvPicPr>
        <p:blipFill>
          <a:blip r:embed="rId3">
            <a:alphaModFix/>
          </a:blip>
          <a:stretch>
            <a:fillRect/>
          </a:stretch>
        </p:blipFill>
        <p:spPr>
          <a:xfrm>
            <a:off x="365760" y="1371600"/>
            <a:ext cx="8412481" cy="230538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3"/>
          <p:cNvSpPr txBox="1"/>
          <p:nvPr>
            <p:ph type="title"/>
          </p:nvPr>
        </p:nvSpPr>
        <p:spPr>
          <a:xfrm>
            <a:off x="365760" y="228600"/>
            <a:ext cx="8412600" cy="1005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97.7% of samples sit in advance(); list indexing and float boxing dominate the C frames</a:t>
            </a:r>
            <a:endParaRPr/>
          </a:p>
        </p:txBody>
      </p:sp>
      <p:sp>
        <p:nvSpPr>
          <p:cNvPr id="70" name="Google Shape;70;p13"/>
          <p:cNvSpPr txBox="1"/>
          <p:nvPr>
            <p:ph idx="12" type="sldNum"/>
          </p:nvPr>
        </p:nvSpPr>
        <p:spPr>
          <a:xfrm>
            <a:off x="7863840" y="4773168"/>
            <a:ext cx="914400" cy="3657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71" name="Google Shape;71;p13" title="print_nbody_stock_slide.png"/>
          <p:cNvPicPr preferRelativeResize="0"/>
          <p:nvPr/>
        </p:nvPicPr>
        <p:blipFill>
          <a:blip r:embed="rId3">
            <a:alphaModFix/>
          </a:blip>
          <a:stretch>
            <a:fillRect/>
          </a:stretch>
        </p:blipFill>
        <p:spPr>
          <a:xfrm>
            <a:off x="365760" y="1389888"/>
            <a:ext cx="8412480" cy="249677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4"/>
          <p:cNvSpPr txBox="1"/>
          <p:nvPr>
            <p:ph type="title"/>
          </p:nvPr>
        </p:nvSpPr>
        <p:spPr>
          <a:xfrm>
            <a:off x="365760" y="228600"/>
            <a:ext cx="8412600" cy="1005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Specializing advance() to the fixed pair list removes the list traffic: 231.20 → 143.13 ms, 1.62x, bit-identical state</a:t>
            </a:r>
            <a:endParaRPr/>
          </a:p>
        </p:txBody>
      </p:sp>
      <p:sp>
        <p:nvSpPr>
          <p:cNvPr id="77" name="Google Shape;77;p14"/>
          <p:cNvSpPr txBox="1"/>
          <p:nvPr>
            <p:ph idx="12" type="sldNum"/>
          </p:nvPr>
        </p:nvSpPr>
        <p:spPr>
          <a:xfrm>
            <a:off x="7863840" y="4773168"/>
            <a:ext cx="914400" cy="3657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78" name="Google Shape;78;p14" title="print_nbody_opt_slide.png"/>
          <p:cNvPicPr preferRelativeResize="0"/>
          <p:nvPr/>
        </p:nvPicPr>
        <p:blipFill>
          <a:blip r:embed="rId3">
            <a:alphaModFix/>
          </a:blip>
          <a:stretch>
            <a:fillRect/>
          </a:stretch>
        </p:blipFill>
        <p:spPr>
          <a:xfrm>
            <a:off x="365760" y="1371600"/>
            <a:ext cx="8412480" cy="207919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